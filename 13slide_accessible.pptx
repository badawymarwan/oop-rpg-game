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 id="2147483682" r:id="rId6"/>
  </p:sldMasterIdLst>
  <p:notesMasterIdLst>
    <p:notesMasterId r:id="rId50"/>
  </p:notesMasterIdLst>
  <p:handoutMasterIdLst>
    <p:handoutMasterId r:id="rId51"/>
  </p:handoutMasterIdLst>
  <p:sldIdLst>
    <p:sldId id="610" r:id="rId7"/>
    <p:sldId id="330" r:id="rId8"/>
    <p:sldId id="408" r:id="rId9"/>
    <p:sldId id="511" r:id="rId10"/>
    <p:sldId id="556" r:id="rId11"/>
    <p:sldId id="512" r:id="rId12"/>
    <p:sldId id="513" r:id="rId13"/>
    <p:sldId id="514" r:id="rId14"/>
    <p:sldId id="515" r:id="rId15"/>
    <p:sldId id="516" r:id="rId16"/>
    <p:sldId id="517" r:id="rId17"/>
    <p:sldId id="518" r:id="rId18"/>
    <p:sldId id="611" r:id="rId19"/>
    <p:sldId id="519" r:id="rId20"/>
    <p:sldId id="525" r:id="rId21"/>
    <p:sldId id="526" r:id="rId22"/>
    <p:sldId id="527" r:id="rId23"/>
    <p:sldId id="528" r:id="rId24"/>
    <p:sldId id="529" r:id="rId25"/>
    <p:sldId id="530" r:id="rId26"/>
    <p:sldId id="531" r:id="rId27"/>
    <p:sldId id="532" r:id="rId28"/>
    <p:sldId id="533" r:id="rId29"/>
    <p:sldId id="534" r:id="rId30"/>
    <p:sldId id="536" r:id="rId31"/>
    <p:sldId id="537" r:id="rId32"/>
    <p:sldId id="538" r:id="rId33"/>
    <p:sldId id="539" r:id="rId34"/>
    <p:sldId id="540" r:id="rId35"/>
    <p:sldId id="541" r:id="rId36"/>
    <p:sldId id="542" r:id="rId37"/>
    <p:sldId id="543" r:id="rId38"/>
    <p:sldId id="544" r:id="rId39"/>
    <p:sldId id="545" r:id="rId40"/>
    <p:sldId id="547" r:id="rId41"/>
    <p:sldId id="548" r:id="rId42"/>
    <p:sldId id="549" r:id="rId43"/>
    <p:sldId id="550" r:id="rId44"/>
    <p:sldId id="551" r:id="rId45"/>
    <p:sldId id="552" r:id="rId46"/>
    <p:sldId id="553" r:id="rId47"/>
    <p:sldId id="554" r:id="rId48"/>
    <p:sldId id="947" r:id="rId49"/>
  </p:sldIdLst>
  <p:sldSz cx="9144000" cy="6858000" type="screen4x3"/>
  <p:notesSz cx="6858000" cy="9144000"/>
  <p:embeddedFontLst>
    <p:embeddedFont>
      <p:font typeface="Book Antiqua" panose="02040602050305030304" pitchFamily="18" charset="0"/>
      <p:regular r:id="rId52"/>
      <p:bold r:id="rId53"/>
      <p:italic r:id="rId54"/>
      <p:boldItalic r:id="rId55"/>
    </p:embeddedFont>
    <p:embeddedFont>
      <p:font typeface="Noto Sans Symbols" panose="020B0604020202020204" charset="0"/>
      <p:regular r:id="rId56"/>
      <p:bold r:id="rId57"/>
      <p:italic r:id="rId58"/>
      <p:boldItalic r:id="rId59"/>
    </p:embeddedFont>
    <p:embeddedFont>
      <p:font typeface="Verdana" panose="020B0604030504040204" pitchFamily="34"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56" userDrawn="1">
          <p15:clr>
            <a:srgbClr val="A4A3A4"/>
          </p15:clr>
        </p15:guide>
        <p15:guide id="4" orient="horz" pos="119" userDrawn="1">
          <p15:clr>
            <a:srgbClr val="A4A3A4"/>
          </p15:clr>
        </p15:guide>
        <p15:guide id="5" orient="horz" pos="822" userDrawn="1">
          <p15:clr>
            <a:srgbClr val="A4A3A4"/>
          </p15:clr>
        </p15:guide>
        <p15:guide id="6" orient="horz" pos="958" userDrawn="1">
          <p15:clr>
            <a:srgbClr val="A4A3A4"/>
          </p15:clr>
        </p15:guide>
        <p15:guide id="9" pos="54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KR Anandda Kumarr" initials="KAK" lastIdx="1" clrIdx="7">
    <p:extLst>
      <p:ext uri="{19B8F6BF-5375-455C-9EA6-DF929625EA0E}">
        <p15:presenceInfo xmlns:p15="http://schemas.microsoft.com/office/powerpoint/2012/main" userId="874ae4b53f93d15d" providerId="Windows Liv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18BE76-8EC6-4F37-BDE1-2428D3B34FD6}" v="13" dt="2026-04-05T13:49:42.445"/>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17" autoAdjust="0"/>
    <p:restoredTop sz="94404" autoAdjust="0"/>
  </p:normalViewPr>
  <p:slideViewPr>
    <p:cSldViewPr snapToGrid="0" snapToObjects="1">
      <p:cViewPr varScale="1">
        <p:scale>
          <a:sx n="70" d="100"/>
          <a:sy n="70" d="100"/>
        </p:scale>
        <p:origin x="1504" y="52"/>
      </p:cViewPr>
      <p:guideLst>
        <p:guide orient="horz" pos="3997"/>
        <p:guide pos="295"/>
        <p:guide orient="horz" pos="4156"/>
        <p:guide orient="horz" pos="119"/>
        <p:guide orient="horz" pos="822"/>
        <p:guide orient="horz" pos="958"/>
        <p:guide pos="5465"/>
      </p:guideLst>
    </p:cSldViewPr>
  </p:slideViewPr>
  <p:outlineViewPr>
    <p:cViewPr>
      <p:scale>
        <a:sx n="33" d="100"/>
        <a:sy n="33" d="100"/>
      </p:scale>
      <p:origin x="0" y="-38772"/>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font" Target="fonts/font12.fntdata"/><Relationship Id="rId68"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font" Target="fonts/font10.fntdata"/><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font" Target="fonts/font5.fntdata"/><Relationship Id="rId64" Type="http://schemas.openxmlformats.org/officeDocument/2006/relationships/commentAuthors" Target="commentAuthors.xml"/><Relationship Id="rId69" Type="http://schemas.microsoft.com/office/2016/11/relationships/changesInfo" Target="changesInfos/changesInfo1.xml"/><Relationship Id="rId8" Type="http://schemas.openxmlformats.org/officeDocument/2006/relationships/slide" Target="slides/slide2.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font" Target="fonts/font8.fntdata"/><Relationship Id="rId67"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font" Target="fonts/font3.fntdata"/><Relationship Id="rId62" Type="http://schemas.openxmlformats.org/officeDocument/2006/relationships/font" Target="fonts/font11.fntdata"/><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font" Target="fonts/font6.fntdata"/><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notesMaster" Target="notesMasters/notesMaster1.xml"/><Relationship Id="rId55"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dija Almohsen" userId="841d835e-1a4e-40c3-9dc9-b5aa7ba64024" providerId="ADAL" clId="{5618BE76-8EC6-4F37-BDE1-2428D3B34FD6}"/>
    <pc:docChg chg="custSel addSld delSld modSld">
      <pc:chgData name="Khadija Almohsen" userId="841d835e-1a4e-40c3-9dc9-b5aa7ba64024" providerId="ADAL" clId="{5618BE76-8EC6-4F37-BDE1-2428D3B34FD6}" dt="2026-04-05T13:50:20.592" v="93" actId="1076"/>
      <pc:docMkLst>
        <pc:docMk/>
      </pc:docMkLst>
      <pc:sldChg chg="del">
        <pc:chgData name="Khadija Almohsen" userId="841d835e-1a4e-40c3-9dc9-b5aa7ba64024" providerId="ADAL" clId="{5618BE76-8EC6-4F37-BDE1-2428D3B34FD6}" dt="2026-03-31T23:43:52.125" v="41" actId="47"/>
        <pc:sldMkLst>
          <pc:docMk/>
          <pc:sldMk cId="0" sldId="298"/>
        </pc:sldMkLst>
      </pc:sldChg>
      <pc:sldChg chg="addSp delSp mod">
        <pc:chgData name="Khadija Almohsen" userId="841d835e-1a4e-40c3-9dc9-b5aa7ba64024" providerId="ADAL" clId="{5618BE76-8EC6-4F37-BDE1-2428D3B34FD6}" dt="2026-04-05T08:13:31.510" v="54" actId="478"/>
        <pc:sldMkLst>
          <pc:docMk/>
          <pc:sldMk cId="4133536141" sldId="512"/>
        </pc:sldMkLst>
        <pc:inkChg chg="add del">
          <ac:chgData name="Khadija Almohsen" userId="841d835e-1a4e-40c3-9dc9-b5aa7ba64024" providerId="ADAL" clId="{5618BE76-8EC6-4F37-BDE1-2428D3B34FD6}" dt="2026-04-05T08:13:31.510" v="54" actId="478"/>
          <ac:inkMkLst>
            <pc:docMk/>
            <pc:sldMk cId="4133536141" sldId="512"/>
            <ac:inkMk id="3" creationId="{28E60610-B179-80D6-9EEE-0F8D7D9E1BD8}"/>
          </ac:inkMkLst>
        </pc:inkChg>
      </pc:sldChg>
      <pc:sldChg chg="modSp mod">
        <pc:chgData name="Khadija Almohsen" userId="841d835e-1a4e-40c3-9dc9-b5aa7ba64024" providerId="ADAL" clId="{5618BE76-8EC6-4F37-BDE1-2428D3B34FD6}" dt="2026-03-31T23:48:53.364" v="42" actId="20577"/>
        <pc:sldMkLst>
          <pc:docMk/>
          <pc:sldMk cId="3888984144" sldId="513"/>
        </pc:sldMkLst>
        <pc:spChg chg="mod">
          <ac:chgData name="Khadija Almohsen" userId="841d835e-1a4e-40c3-9dc9-b5aa7ba64024" providerId="ADAL" clId="{5618BE76-8EC6-4F37-BDE1-2428D3B34FD6}" dt="2026-03-31T23:48:53.364" v="42" actId="20577"/>
          <ac:spMkLst>
            <pc:docMk/>
            <pc:sldMk cId="3888984144" sldId="513"/>
            <ac:spMk id="3" creationId="{B9908849-F9FB-44EF-85A4-1FE96AADD211}"/>
          </ac:spMkLst>
        </pc:spChg>
      </pc:sldChg>
      <pc:sldChg chg="modSp mod">
        <pc:chgData name="Khadija Almohsen" userId="841d835e-1a4e-40c3-9dc9-b5aa7ba64024" providerId="ADAL" clId="{5618BE76-8EC6-4F37-BDE1-2428D3B34FD6}" dt="2026-03-31T23:39:40.026" v="40" actId="20577"/>
        <pc:sldMkLst>
          <pc:docMk/>
          <pc:sldMk cId="3584819817" sldId="514"/>
        </pc:sldMkLst>
        <pc:spChg chg="mod">
          <ac:chgData name="Khadija Almohsen" userId="841d835e-1a4e-40c3-9dc9-b5aa7ba64024" providerId="ADAL" clId="{5618BE76-8EC6-4F37-BDE1-2428D3B34FD6}" dt="2026-03-31T23:39:40.026" v="40" actId="20577"/>
          <ac:spMkLst>
            <pc:docMk/>
            <pc:sldMk cId="3584819817" sldId="514"/>
            <ac:spMk id="3" creationId="{47400CFC-9A5C-4B55-9145-0DD45F7BA401}"/>
          </ac:spMkLst>
        </pc:spChg>
      </pc:sldChg>
      <pc:sldChg chg="modSp mod">
        <pc:chgData name="Khadija Almohsen" userId="841d835e-1a4e-40c3-9dc9-b5aa7ba64024" providerId="ADAL" clId="{5618BE76-8EC6-4F37-BDE1-2428D3B34FD6}" dt="2026-03-31T23:49:48.058" v="43" actId="20577"/>
        <pc:sldMkLst>
          <pc:docMk/>
          <pc:sldMk cId="404616753" sldId="516"/>
        </pc:sldMkLst>
        <pc:spChg chg="mod">
          <ac:chgData name="Khadija Almohsen" userId="841d835e-1a4e-40c3-9dc9-b5aa7ba64024" providerId="ADAL" clId="{5618BE76-8EC6-4F37-BDE1-2428D3B34FD6}" dt="2026-03-31T23:49:48.058" v="43" actId="20577"/>
          <ac:spMkLst>
            <pc:docMk/>
            <pc:sldMk cId="404616753" sldId="516"/>
            <ac:spMk id="3" creationId="{2F47CF90-B2B9-4AF9-9BD6-A5683106810D}"/>
          </ac:spMkLst>
        </pc:spChg>
      </pc:sldChg>
      <pc:sldChg chg="del">
        <pc:chgData name="Khadija Almohsen" userId="841d835e-1a4e-40c3-9dc9-b5aa7ba64024" providerId="ADAL" clId="{5618BE76-8EC6-4F37-BDE1-2428D3B34FD6}" dt="2026-04-05T13:45:21.325" v="70" actId="47"/>
        <pc:sldMkLst>
          <pc:docMk/>
          <pc:sldMk cId="4281456015" sldId="520"/>
        </pc:sldMkLst>
      </pc:sldChg>
      <pc:sldChg chg="del">
        <pc:chgData name="Khadija Almohsen" userId="841d835e-1a4e-40c3-9dc9-b5aa7ba64024" providerId="ADAL" clId="{5618BE76-8EC6-4F37-BDE1-2428D3B34FD6}" dt="2026-04-05T13:45:21.325" v="70" actId="47"/>
        <pc:sldMkLst>
          <pc:docMk/>
          <pc:sldMk cId="3319311696" sldId="521"/>
        </pc:sldMkLst>
      </pc:sldChg>
      <pc:sldChg chg="del">
        <pc:chgData name="Khadija Almohsen" userId="841d835e-1a4e-40c3-9dc9-b5aa7ba64024" providerId="ADAL" clId="{5618BE76-8EC6-4F37-BDE1-2428D3B34FD6}" dt="2026-04-05T13:45:21.325" v="70" actId="47"/>
        <pc:sldMkLst>
          <pc:docMk/>
          <pc:sldMk cId="1464000826" sldId="522"/>
        </pc:sldMkLst>
      </pc:sldChg>
      <pc:sldChg chg="del">
        <pc:chgData name="Khadija Almohsen" userId="841d835e-1a4e-40c3-9dc9-b5aa7ba64024" providerId="ADAL" clId="{5618BE76-8EC6-4F37-BDE1-2428D3B34FD6}" dt="2026-04-05T13:45:22.836" v="71" actId="47"/>
        <pc:sldMkLst>
          <pc:docMk/>
          <pc:sldMk cId="1560538157" sldId="523"/>
        </pc:sldMkLst>
      </pc:sldChg>
      <pc:sldChg chg="del">
        <pc:chgData name="Khadija Almohsen" userId="841d835e-1a4e-40c3-9dc9-b5aa7ba64024" providerId="ADAL" clId="{5618BE76-8EC6-4F37-BDE1-2428D3B34FD6}" dt="2026-04-05T13:45:23.944" v="72" actId="47"/>
        <pc:sldMkLst>
          <pc:docMk/>
          <pc:sldMk cId="1646921448" sldId="524"/>
        </pc:sldMkLst>
      </pc:sldChg>
      <pc:sldChg chg="del">
        <pc:chgData name="Khadija Almohsen" userId="841d835e-1a4e-40c3-9dc9-b5aa7ba64024" providerId="ADAL" clId="{5618BE76-8EC6-4F37-BDE1-2428D3B34FD6}" dt="2026-04-05T13:40:10.505" v="55" actId="47"/>
        <pc:sldMkLst>
          <pc:docMk/>
          <pc:sldMk cId="2757443477" sldId="535"/>
        </pc:sldMkLst>
      </pc:sldChg>
      <pc:sldChg chg="addSp delSp modSp mod">
        <pc:chgData name="Khadija Almohsen" userId="841d835e-1a4e-40c3-9dc9-b5aa7ba64024" providerId="ADAL" clId="{5618BE76-8EC6-4F37-BDE1-2428D3B34FD6}" dt="2026-04-05T13:43:16.786" v="67" actId="403"/>
        <pc:sldMkLst>
          <pc:docMk/>
          <pc:sldMk cId="1281507266" sldId="538"/>
        </pc:sldMkLst>
        <pc:spChg chg="mod">
          <ac:chgData name="Khadija Almohsen" userId="841d835e-1a4e-40c3-9dc9-b5aa7ba64024" providerId="ADAL" clId="{5618BE76-8EC6-4F37-BDE1-2428D3B34FD6}" dt="2026-04-05T13:42:53.715" v="60" actId="20577"/>
          <ac:spMkLst>
            <pc:docMk/>
            <pc:sldMk cId="1281507266" sldId="538"/>
            <ac:spMk id="2" creationId="{3A68B5A8-8328-40BB-8713-09F64E69F0FF}"/>
          </ac:spMkLst>
        </pc:spChg>
        <pc:spChg chg="mod">
          <ac:chgData name="Khadija Almohsen" userId="841d835e-1a4e-40c3-9dc9-b5aa7ba64024" providerId="ADAL" clId="{5618BE76-8EC6-4F37-BDE1-2428D3B34FD6}" dt="2026-04-05T13:43:16.786" v="67" actId="403"/>
          <ac:spMkLst>
            <pc:docMk/>
            <pc:sldMk cId="1281507266" sldId="538"/>
            <ac:spMk id="3" creationId="{2C8FF851-4F2B-456A-9228-EF9C8650F525}"/>
          </ac:spMkLst>
        </pc:spChg>
        <pc:spChg chg="del mod">
          <ac:chgData name="Khadija Almohsen" userId="841d835e-1a4e-40c3-9dc9-b5aa7ba64024" providerId="ADAL" clId="{5618BE76-8EC6-4F37-BDE1-2428D3B34FD6}" dt="2026-04-05T13:42:59.060" v="62" actId="478"/>
          <ac:spMkLst>
            <pc:docMk/>
            <pc:sldMk cId="1281507266" sldId="538"/>
            <ac:spMk id="4" creationId="{588FDABC-7D7A-40DD-B600-E78BFC3A09F8}"/>
          </ac:spMkLst>
        </pc:spChg>
        <pc:spChg chg="del">
          <ac:chgData name="Khadija Almohsen" userId="841d835e-1a4e-40c3-9dc9-b5aa7ba64024" providerId="ADAL" clId="{5618BE76-8EC6-4F37-BDE1-2428D3B34FD6}" dt="2026-04-05T13:43:01.184" v="63" actId="478"/>
          <ac:spMkLst>
            <pc:docMk/>
            <pc:sldMk cId="1281507266" sldId="538"/>
            <ac:spMk id="5" creationId="{CA63B186-F3AE-403F-893E-D5618A79ECAE}"/>
          </ac:spMkLst>
        </pc:spChg>
        <pc:spChg chg="add del mod">
          <ac:chgData name="Khadija Almohsen" userId="841d835e-1a4e-40c3-9dc9-b5aa7ba64024" providerId="ADAL" clId="{5618BE76-8EC6-4F37-BDE1-2428D3B34FD6}" dt="2026-04-05T13:43:02.673" v="64" actId="478"/>
          <ac:spMkLst>
            <pc:docMk/>
            <pc:sldMk cId="1281507266" sldId="538"/>
            <ac:spMk id="7" creationId="{8E41ED7D-5DA0-3974-7CCC-097804EDFC1D}"/>
          </ac:spMkLst>
        </pc:spChg>
      </pc:sldChg>
      <pc:sldChg chg="del">
        <pc:chgData name="Khadija Almohsen" userId="841d835e-1a4e-40c3-9dc9-b5aa7ba64024" providerId="ADAL" clId="{5618BE76-8EC6-4F37-BDE1-2428D3B34FD6}" dt="2026-04-05T13:43:47.901" v="68" actId="47"/>
        <pc:sldMkLst>
          <pc:docMk/>
          <pc:sldMk cId="2332274443" sldId="546"/>
        </pc:sldMkLst>
      </pc:sldChg>
      <pc:sldChg chg="del">
        <pc:chgData name="Khadija Almohsen" userId="841d835e-1a4e-40c3-9dc9-b5aa7ba64024" providerId="ADAL" clId="{5618BE76-8EC6-4F37-BDE1-2428D3B34FD6}" dt="2026-04-05T13:44:19.344" v="69" actId="47"/>
        <pc:sldMkLst>
          <pc:docMk/>
          <pc:sldMk cId="711082439" sldId="557"/>
        </pc:sldMkLst>
      </pc:sldChg>
      <pc:sldChg chg="modSp add del mod">
        <pc:chgData name="Khadija Almohsen" userId="841d835e-1a4e-40c3-9dc9-b5aa7ba64024" providerId="ADAL" clId="{5618BE76-8EC6-4F37-BDE1-2428D3B34FD6}" dt="2026-03-31T23:38:01.820" v="36" actId="20577"/>
        <pc:sldMkLst>
          <pc:docMk/>
          <pc:sldMk cId="1011817002" sldId="610"/>
        </pc:sldMkLst>
        <pc:spChg chg="mod">
          <ac:chgData name="Khadija Almohsen" userId="841d835e-1a4e-40c3-9dc9-b5aa7ba64024" providerId="ADAL" clId="{5618BE76-8EC6-4F37-BDE1-2428D3B34FD6}" dt="2026-03-31T23:35:46.123" v="3" actId="20577"/>
          <ac:spMkLst>
            <pc:docMk/>
            <pc:sldMk cId="1011817002" sldId="610"/>
            <ac:spMk id="8" creationId="{A1A46248-B2B3-44FD-88AF-ECEBABB8ED9A}"/>
          </ac:spMkLst>
        </pc:spChg>
        <pc:spChg chg="mod">
          <ac:chgData name="Khadija Almohsen" userId="841d835e-1a4e-40c3-9dc9-b5aa7ba64024" providerId="ADAL" clId="{5618BE76-8EC6-4F37-BDE1-2428D3B34FD6}" dt="2026-03-31T23:38:01.820" v="36" actId="20577"/>
          <ac:spMkLst>
            <pc:docMk/>
            <pc:sldMk cId="1011817002" sldId="610"/>
            <ac:spMk id="11" creationId="{7B368E55-862F-4B19-89F0-4E3911FC9A6A}"/>
          </ac:spMkLst>
        </pc:spChg>
      </pc:sldChg>
      <pc:sldChg chg="delSp modSp add mod">
        <pc:chgData name="Khadija Almohsen" userId="841d835e-1a4e-40c3-9dc9-b5aa7ba64024" providerId="ADAL" clId="{5618BE76-8EC6-4F37-BDE1-2428D3B34FD6}" dt="2026-04-01T00:11:41.158" v="50" actId="478"/>
        <pc:sldMkLst>
          <pc:docMk/>
          <pc:sldMk cId="0" sldId="611"/>
        </pc:sldMkLst>
        <pc:spChg chg="mod">
          <ac:chgData name="Khadija Almohsen" userId="841d835e-1a4e-40c3-9dc9-b5aa7ba64024" providerId="ADAL" clId="{5618BE76-8EC6-4F37-BDE1-2428D3B34FD6}" dt="2026-03-31T23:50:50.667" v="45" actId="2711"/>
          <ac:spMkLst>
            <pc:docMk/>
            <pc:sldMk cId="0" sldId="611"/>
            <ac:spMk id="18434" creationId="{3F5FF6C7-A4DC-4CFB-10B7-5AD75CD0B0B6}"/>
          </ac:spMkLst>
        </pc:spChg>
        <pc:spChg chg="mod">
          <ac:chgData name="Khadija Almohsen" userId="841d835e-1a4e-40c3-9dc9-b5aa7ba64024" providerId="ADAL" clId="{5618BE76-8EC6-4F37-BDE1-2428D3B34FD6}" dt="2026-03-31T23:51:12.861" v="49" actId="403"/>
          <ac:spMkLst>
            <pc:docMk/>
            <pc:sldMk cId="0" sldId="611"/>
            <ac:spMk id="18435" creationId="{5717EAA2-1A3F-51D5-649A-2FF3F226B6EC}"/>
          </ac:spMkLst>
        </pc:spChg>
      </pc:sldChg>
      <pc:sldChg chg="addSp delSp modSp add mod modTransition">
        <pc:chgData name="Khadija Almohsen" userId="841d835e-1a4e-40c3-9dc9-b5aa7ba64024" providerId="ADAL" clId="{5618BE76-8EC6-4F37-BDE1-2428D3B34FD6}" dt="2026-04-05T13:50:20.592" v="93" actId="1076"/>
        <pc:sldMkLst>
          <pc:docMk/>
          <pc:sldMk cId="1255087344" sldId="947"/>
        </pc:sldMkLst>
        <pc:spChg chg="mod">
          <ac:chgData name="Khadija Almohsen" userId="841d835e-1a4e-40c3-9dc9-b5aa7ba64024" providerId="ADAL" clId="{5618BE76-8EC6-4F37-BDE1-2428D3B34FD6}" dt="2026-04-05T13:49:52.638" v="90" actId="207"/>
          <ac:spMkLst>
            <pc:docMk/>
            <pc:sldMk cId="1255087344" sldId="947"/>
            <ac:spMk id="6" creationId="{B5F1AE1E-D0F3-1C20-C001-B7C488639775}"/>
          </ac:spMkLst>
        </pc:spChg>
        <pc:spChg chg="mod">
          <ac:chgData name="Khadija Almohsen" userId="841d835e-1a4e-40c3-9dc9-b5aa7ba64024" providerId="ADAL" clId="{5618BE76-8EC6-4F37-BDE1-2428D3B34FD6}" dt="2026-04-05T13:46:39.939" v="75" actId="20577"/>
          <ac:spMkLst>
            <pc:docMk/>
            <pc:sldMk cId="1255087344" sldId="947"/>
            <ac:spMk id="47107" creationId="{57249A6B-B23F-312B-3605-A6AF30F16F39}"/>
          </ac:spMkLst>
        </pc:spChg>
        <pc:spChg chg="del">
          <ac:chgData name="Khadija Almohsen" userId="841d835e-1a4e-40c3-9dc9-b5aa7ba64024" providerId="ADAL" clId="{5618BE76-8EC6-4F37-BDE1-2428D3B34FD6}" dt="2026-04-05T13:46:53.246" v="81" actId="478"/>
          <ac:spMkLst>
            <pc:docMk/>
            <pc:sldMk cId="1255087344" sldId="947"/>
            <ac:spMk id="47108" creationId="{4E58974C-0230-A3B0-B435-AFFAE4A553D8}"/>
          </ac:spMkLst>
        </pc:spChg>
        <pc:picChg chg="del">
          <ac:chgData name="Khadija Almohsen" userId="841d835e-1a4e-40c3-9dc9-b5aa7ba64024" providerId="ADAL" clId="{5618BE76-8EC6-4F37-BDE1-2428D3B34FD6}" dt="2026-04-05T13:46:47.718" v="80" actId="478"/>
          <ac:picMkLst>
            <pc:docMk/>
            <pc:sldMk cId="1255087344" sldId="947"/>
            <ac:picMk id="3" creationId="{FDEB965A-6A2A-3D0A-A9C9-117757EE33BB}"/>
          </ac:picMkLst>
        </pc:picChg>
        <pc:picChg chg="add mod">
          <ac:chgData name="Khadija Almohsen" userId="841d835e-1a4e-40c3-9dc9-b5aa7ba64024" providerId="ADAL" clId="{5618BE76-8EC6-4F37-BDE1-2428D3B34FD6}" dt="2026-04-05T13:47:38.586" v="84" actId="1076"/>
          <ac:picMkLst>
            <pc:docMk/>
            <pc:sldMk cId="1255087344" sldId="947"/>
            <ac:picMk id="4" creationId="{90B22C9E-9563-C6FF-3E3B-9FBF0EEE1E38}"/>
          </ac:picMkLst>
        </pc:picChg>
        <pc:picChg chg="del">
          <ac:chgData name="Khadija Almohsen" userId="841d835e-1a4e-40c3-9dc9-b5aa7ba64024" providerId="ADAL" clId="{5618BE76-8EC6-4F37-BDE1-2428D3B34FD6}" dt="2026-04-05T13:46:46.447" v="79" actId="478"/>
          <ac:picMkLst>
            <pc:docMk/>
            <pc:sldMk cId="1255087344" sldId="947"/>
            <ac:picMk id="5" creationId="{17EBB49F-35B7-1F6A-533A-E8A154B878F2}"/>
          </ac:picMkLst>
        </pc:picChg>
        <pc:picChg chg="add mod">
          <ac:chgData name="Khadija Almohsen" userId="841d835e-1a4e-40c3-9dc9-b5aa7ba64024" providerId="ADAL" clId="{5618BE76-8EC6-4F37-BDE1-2428D3B34FD6}" dt="2026-04-05T13:50:20.592" v="93" actId="1076"/>
          <ac:picMkLst>
            <pc:docMk/>
            <pc:sldMk cId="1255087344" sldId="947"/>
            <ac:picMk id="8" creationId="{EFC64D7A-0140-6B0F-497B-0CEA90DDF7B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4/5/2026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iveexample.pearsoncmg.com/html/GeometricObject.html"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liveexample.pearsoncmg.com/html/TestGeometricObject.html" TargetMode="External"/><Relationship Id="rId5" Type="http://schemas.openxmlformats.org/officeDocument/2006/relationships/hyperlink" Target="https://liveexample.pearsoncmg.com/html/Rectangle.html" TargetMode="External"/><Relationship Id="rId4" Type="http://schemas.openxmlformats.org/officeDocument/2006/relationships/hyperlink" Target="https://liveexample.pearsoncmg.com/html/Circle.html"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iveexample.pearsoncmg.com/html/LargestNumbers.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liveexample.pearsoncmg.com/html/Edible.html"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liveexample.pearsoncmg.com/html/TestEdible.html"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liveexample.pearsoncmg.com/html/ComparableRectangle.html"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liveexample.pearsoncmg.com/html/SortRectangles.html"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liveexample.pearsoncmg.com/html/House.html"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908CB1-49C1-489A-B595-349BF5C9C25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3245569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The code is divided into 3 boxes that are for Geometric Object, Circle, and Rectangle. A Geometric Object box shows the coding, and it's divided into 2 rows. Row 1 shows the coding for 3 lines. Line 1, minus color colon String. Line 2, minus filled colon </a:t>
            </a:r>
            <a:r>
              <a:rPr lang="en-US" altLang="en-US" sz="1200" dirty="0" err="1"/>
              <a:t>boolean</a:t>
            </a:r>
            <a:r>
              <a:rPr lang="en-US" altLang="en-US" sz="1200" dirty="0"/>
              <a:t>. Line 3, minus Date Create colon java period util period Date. Row 2 also shows the coding but for 11 lines. Line 1, protected modifier Geometric Object open parenthesis close parenthesis. Line 2, protected modifier Geometric Object open parenthesis color colon String comma. Line 3, filled colon </a:t>
            </a:r>
            <a:r>
              <a:rPr lang="en-US" altLang="en-US" sz="1200" dirty="0" err="1"/>
              <a:t>boolean</a:t>
            </a:r>
            <a:r>
              <a:rPr lang="en-US" altLang="en-US" sz="1200" dirty="0"/>
              <a:t> close parenthesis. Line 4, plus get Color open parenthesis close parenthesis colon String. Line 5, plus set Color open parenthesis color colon String close parenthesis colon void. Line 6, plus is Filled open parenthesis close parenthesis colon </a:t>
            </a:r>
            <a:r>
              <a:rPr lang="en-US" altLang="en-US" sz="1200" dirty="0" err="1"/>
              <a:t>boolean</a:t>
            </a:r>
            <a:r>
              <a:rPr lang="en-US" altLang="en-US" sz="1200" dirty="0"/>
              <a:t>. Line 7, plus set Filled open parenthesis filled colon </a:t>
            </a:r>
            <a:r>
              <a:rPr lang="en-US" altLang="en-US" sz="1200" dirty="0" err="1"/>
              <a:t>boolean</a:t>
            </a:r>
            <a:r>
              <a:rPr lang="en-US" altLang="en-US" sz="1200" dirty="0"/>
              <a:t> close parenthesis colon void. Line 8, plus get Date Created open parenthesis close parenthesis colon java period util period Date. Line 9, plus to String open parenthesis close parenthesis colon String. Line 10, plus get Area open parenthesis close parenthesis colon double. Line 11, plus get Perimeter open parenthesis close parenthesis colon double. A Circle box shows the coding, but it's divided into two rows. Row 1, shows the coding for 1 line. Line 1, minus radius colon double. Row 2, also shows the coding but for 7 lines. Line 1, plus Circle open parenthesis close parenthesis. Line 2, plus Circle open parenthesis radius colon double close parenthesis. Line 3, plus Circle open parenthesis radius colon double comma color colon string comma. Line 4, filled colon </a:t>
            </a:r>
            <a:r>
              <a:rPr lang="en-US" altLang="en-US" sz="1200" dirty="0" err="1"/>
              <a:t>boolean</a:t>
            </a:r>
            <a:r>
              <a:rPr lang="en-US" altLang="en-US" sz="1200" dirty="0"/>
              <a:t> close parenthesis. Line 5, plus get Radius open parenthesis close parenthesis colon double. Line 6, plus set Radius open parenthesis radius colon double close parenthesis colon void. Line 7, plus get Diameter open parenthesis close parenthesis colon double and this box makes an arrow to represent the Geometric Object box. A Rectangle box also shows the coding and divided into 2 rows. Row 1, shows the coding for 2 lines. Line 1, minus width colon double. Line 2, minus height colon double. Row 2, also shows coding but for 8 lines. Line 1, plus Rectangle open parenthesis close parenthesis. Line 2, plus Rectangle open parenthesis width colon double comma height colon double close parenthesis. Line 3, plus Rectangle open parenthesis width colon double comma height colon double comma. Line 4, color colon string comma filled colon </a:t>
            </a:r>
            <a:r>
              <a:rPr lang="en-US" altLang="en-US" sz="1200" dirty="0" err="1"/>
              <a:t>boolean</a:t>
            </a:r>
            <a:r>
              <a:rPr lang="en-US" altLang="en-US" sz="1200" dirty="0"/>
              <a:t> close parenthesis. Line 5, plus get Width open parenthesis close parenthesis colon double. Line 6, plus set Width open parenthesis width colon double close parenthesis colon void. Line 7, plus get Height open parenthesis close parenthesis colon double. Line 8, plus set Height open parenthesis height colon double close parenthesis colon void.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GeometricObject</a:t>
            </a:r>
            <a:r>
              <a:rPr lang="en-IN" altLang="en-US" sz="1200" dirty="0"/>
              <a:t>: </a:t>
            </a:r>
            <a:r>
              <a:rPr lang="en-IN" dirty="0">
                <a:hlinkClick r:id="rId3"/>
              </a:rPr>
              <a:t>https://liveexample.pearsoncmg.com/html/GeometricObject.html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Circle: </a:t>
            </a:r>
            <a:r>
              <a:rPr lang="en-IN" dirty="0">
                <a:hlinkClick r:id="rId4"/>
              </a:rPr>
              <a:t>https://liveexample.pearsoncmg.com/html/Circle.html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Rectangle: </a:t>
            </a:r>
            <a:r>
              <a:rPr lang="en-IN" dirty="0">
                <a:hlinkClick r:id="rId5"/>
              </a:rPr>
              <a:t>https://liveexample.pearsoncmg.com/html/Rectangle.html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err="1"/>
              <a:t>TestGeometricObject</a:t>
            </a:r>
            <a:r>
              <a:rPr lang="en-US" sz="1200" dirty="0"/>
              <a:t>: </a:t>
            </a:r>
            <a:r>
              <a:rPr lang="en-IN" dirty="0">
                <a:hlinkClick r:id="rId6"/>
              </a:rPr>
              <a:t>https://liveexample.pearsoncmg.com/html/TestGeometricObject.html</a:t>
            </a:r>
            <a:endParaRPr lang="en-IN" sz="120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87761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It has 1 box, which is divided into 2 rows and 8 small boxes. Box 1 shows the coding now in Row 1, java period lang period Number, but in Row 2, it has 6 lines coding. Line 1, plus byte Value open parenthesis close parenthesis colon byte. Line 2, plus short Value open parenthesis close parenthesis colon short. Line 3, plus int Value open parenthesis close parenthesis colon int. Line 4, plus long Value open parenthesis close parenthesis colon long. Line 5, plus float Value open parenthesis close parenthesis colon float. Line 6, plus double Value open parenthesis close parenthesis colon double. Now, 8 small boxes that are Double, Float, Long, Integer, Short, Byte, BigInteger, </a:t>
            </a:r>
            <a:r>
              <a:rPr lang="en-US" altLang="en-US" sz="1200" dirty="0" err="1"/>
              <a:t>BigDecimal</a:t>
            </a:r>
            <a:r>
              <a:rPr lang="en-US" altLang="en-US" sz="1200" dirty="0"/>
              <a:t> and it's makes an arrow upward to represent the Box 1.</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err="1"/>
              <a:t>LargestNumbers</a:t>
            </a:r>
            <a:r>
              <a:rPr lang="en-IN" altLang="en-US" sz="1200" dirty="0"/>
              <a:t>: </a:t>
            </a:r>
            <a:r>
              <a:rPr lang="en-IN" dirty="0">
                <a:hlinkClick r:id="rId3"/>
              </a:rPr>
              <a:t>https://liveexample.pearsoncmg.com/html/LargestNumbers.html</a:t>
            </a:r>
            <a:endParaRPr lang="en-US" altLang="en-US" sz="120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18827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Box 1, Row 1, open braces open braces interface close braces close braces. Row 2, plus how To Eat open parenthesis close parenthesis colon String and this row divides into 2 parts or interface, Fruit and Chicken but Fruit is also divided into 2 interfaces, Orange and Apple. And, Chicken shows an arrow to another box 2. Box 2, Row 1, Animal. Row 2, plus sound open parenthesis close parenthesis colon String. Its divide into 1 interface is Tiger.</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A notation to the left reads as follows.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The interface name and the method names are italicized. The dashed lines and hollow triangles are used to point to the interface.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Edible</a:t>
            </a:r>
            <a:r>
              <a:rPr lang="en-IN" altLang="en-US" sz="1200" dirty="0"/>
              <a:t>: </a:t>
            </a:r>
            <a:r>
              <a:rPr lang="en-IN" dirty="0">
                <a:hlinkClick r:id="rId3"/>
              </a:rPr>
              <a:t>https://liveexample.pearsoncmg.com/html/Edible.html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TestEdible: </a:t>
            </a:r>
            <a:r>
              <a:rPr lang="en-IN" dirty="0">
                <a:hlinkClick r:id="rId4"/>
              </a:rPr>
              <a:t>https://liveexample.pearsoncmg.com/html/TestEdible.html</a:t>
            </a:r>
            <a:endParaRPr lang="en-US" altLang="en-US" sz="120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39089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divided into 2 boxes. Box 1, has 4 lines. Line 1, public interface T1 open braces. Line 2, public static final int K equal to 1 semicolon. Line 3, public abstract void p open parenthesis close parenthesis semicolon. Line 4, close braces, and this box are equivalent to another box 2. Box 2 also has 4 lines. Line 1, public interface T1 open braces. Line 2, int K equal to 1 semicolon. Line 3, void p open parenthesis close parenthesis semicolon. Line 4, close braces, and this also equivalent to box 1.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92713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divided into 2 boxes. Box 1, has 8 lines. Line 1, public class Integer extends Number. Line 2, implements Comparable less than Integer greater than open braces. Line 3, forward slash forward slash class body omitted. Line 4, at the rate Override. Line 5, public int compare To open parenthesis Integer o close parenthesis open braces. Line 6, forward slash forward slash Implementation omitted. Line 7, close braces. Line 8, close braces. Box 2, also has 8 lines. Line 1, public class BigInteger extends Number. Line 2, implements Comparable less than BigInteger greater than open braces. Line 3, forward slash forward slash class body omitted. Line 4, at the rate Override. Line 5, public int compare To open parenthesis BigInteger o close parenthesis open braces. Line 6, forward slash forward slash Implementation omitted. Line 7, close braces. Line 8, close braces. </a:t>
            </a:r>
          </a:p>
          <a:p>
            <a:endParaRPr lang="en-IN" dirty="0"/>
          </a:p>
          <a:p>
            <a:r>
              <a:rPr lang="en-US" dirty="0"/>
              <a:t>Box 1, has 8 lines. Line 1, public class String extends Object. Line 2, implements Comparable less than String greater than open braces. Line 3, forward slash forward slash class body omitted. Line 4, at the rate Override. Line 5, public int compare To open parenthesis String o close parenthesis open braces. Line 6, forward slash forward slash Implementation omitted. Line 7, close braces. Line 8, close braces. Box 2, has 8 lines. Line 1, public class Date extends Object. Line 2, implements Comparable less than Date greater than open braces. Line 3, forward slash forward slash class body omitted. Line 4, at the rate Override. Line 5, public int compare To open parenthesis Date o close parenthesis open braces. Line 6, forward slash forward slash Implementation omitted. Line 7, close braces. Line 8,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38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4 boxes. Box 1 shows the Geometric Object. Box 2 shows the Rectangle, and it makes an arrow upward to show box 1. Box 3 shows the Comparable Rectangle, and it makes 2 arrows, one for upward to show box 2 and another for the right hand side to show box 4. Box 4, has 2 rows. Row 1, has 2 lines. Line 1, open braces open braces interface close braces close braces. Line 2, java period lang period Comparable less than Comparable Rectangle greater than. Row 2, plus compare To open parenthesis o colon Comparable Rectangle close parenthesis colon int.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ComparableRectangle</a:t>
            </a:r>
            <a:r>
              <a:rPr lang="en-IN" altLang="en-US" dirty="0"/>
              <a:t>: </a:t>
            </a:r>
            <a:r>
              <a:rPr lang="en-IN" dirty="0">
                <a:hlinkClick r:id="rId3"/>
              </a:rPr>
              <a:t>https://liveexample.pearsoncmg.com/html/ComparableRectangle.html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SortRectangles: </a:t>
            </a:r>
            <a:r>
              <a:rPr lang="en-IN" dirty="0">
                <a:hlinkClick r:id="rId4"/>
              </a:rPr>
              <a:t>https://liveexample.pearsoncmg.com/html/SortRectangles.html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14244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House</a:t>
            </a:r>
            <a:r>
              <a:rPr lang="en-IN" altLang="en-US" dirty="0"/>
              <a:t>: </a:t>
            </a:r>
            <a:r>
              <a:rPr lang="en-IN" dirty="0">
                <a:hlinkClick r:id="rId3"/>
              </a:rPr>
              <a:t>https://liveexample.pearsoncmg.com/html/House.html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89552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 has 2 lines. Line 1, House </a:t>
            </a:r>
            <a:r>
              <a:rPr lang="en-US" dirty="0" err="1"/>
              <a:t>house</a:t>
            </a:r>
            <a:r>
              <a:rPr lang="en-US" dirty="0"/>
              <a:t> 1 equal to new House open parenthesis 1,1750 period 50 close parenthesis semicolon. Line 2, House </a:t>
            </a:r>
            <a:r>
              <a:rPr lang="en-US" dirty="0" err="1"/>
              <a:t>house</a:t>
            </a:r>
            <a:r>
              <a:rPr lang="en-US" dirty="0"/>
              <a:t> equal to open parenthesis House close parenthesis house 1 period clone open parenthesis close parenthesis semicolon. An object shows the Shallow Copy. It has 2 boxes, and their boxes are divided into many parts. Box 1, has 2 rows, and it makes an arrow to represent Box 2. Row 1, house 1 colon House. Row 2 has 3 lines. Line 1, id equal to 1, and it makes an arrow forward to represent the 1 box. Line 2, area equal to 1750 period 50, and it makes an arrow forward to represent the 1750.50 box. Line 3, when Built and it makes an arrow forward to represent the reference box. Then, the computer code has 2 lines. Line 1, house 2 equal to. Line 2, house 1 period clone open parenthesis close parenthesis. Box 2, has 2 rows. Row 1, house 2 colon House. Row 2, has 3 lines. Line 1, id equal to 1 and it makes an arrow forward to represent the 1 box. Line 2, area equal to 1750 period 50, and it makes an arrow forward to represent the 1750.50 box. Line 3, when Built and it makes an arrow forward to represent the reference box. Reference boxes have represented another box that has 2 rows. Row 1, when Built colon Date. Row 2, date object contents.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31234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lines. Line 1, House </a:t>
            </a:r>
            <a:r>
              <a:rPr lang="en-US" dirty="0" err="1"/>
              <a:t>house</a:t>
            </a:r>
            <a:r>
              <a:rPr lang="en-US" dirty="0"/>
              <a:t> 1 equal to new House open parenthesis 1,1750 period 50 close parenthesis semicolon. Line 2, House </a:t>
            </a:r>
            <a:r>
              <a:rPr lang="en-US" dirty="0" err="1"/>
              <a:t>house</a:t>
            </a:r>
            <a:r>
              <a:rPr lang="en-US" dirty="0"/>
              <a:t> equal to open parenthesis House close parenthesis house 1 period clone open parenthesis close parenthesis semicolon. An object shows the Deep Copy. It has 2 boxes, and their boxes are divided into many parts. Box 1, has 2 rows, and it makes an arrow to represent Box 2. Row 1, house 1 colon House. Row 2 has 3 lines. Line 1, id equal to 1, and it makes an arrow forward to represent the 1 box. Line 2, area equal to 1750 period 50, and it makes an arrow forward to represent the 1750.50 box. Line 3, when Built and it makes an arrow forward to represent the reference box. Then, the computer code has 2 lines. Line 1, house 2 equal to. Line 2, house 1 period clone open parenthesis close parenthesis. Box 2 has 2 rows. Row 1, house 2 colon House. Row 2, has 3 lines. Line 1, id equal to 1 and it makes an arrow forward to represent the 1 box. Line 2, area equal to 1750 period 50, makes an arrow forward to represent the 1750.50 box. Line 3, when Built and it makes an arrow forward to represent the reference box. Reference boxes are represented by other boxes, which have 2 rows. Row 1, when Built colon Date. Row 2, date object contents.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37968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BAB48C0F-C934-8A97-CC68-DD921F8A1076}"/>
              </a:ext>
            </a:extLst>
          </p:cNvPr>
          <p:cNvSpPr>
            <a:spLocks noGrp="1" noChangeArrowheads="1"/>
          </p:cNvSpPr>
          <p:nvPr>
            <p:ph type="dt" sz="half" idx="10"/>
          </p:nvPr>
        </p:nvSpPr>
        <p:spPr>
          <a:ln/>
        </p:spPr>
        <p:txBody>
          <a:bodyPr/>
          <a:lstStyle>
            <a:lvl1pPr>
              <a:defRPr/>
            </a:lvl1pPr>
          </a:lstStyle>
          <a:p>
            <a:pPr>
              <a:defRPr/>
            </a:pPr>
            <a:fld id="{4B10282D-2A5A-43E4-8D21-971ED8ECE096}" type="datetime1">
              <a:rPr lang="en-US"/>
              <a:pPr>
                <a:defRPr/>
              </a:pPr>
              <a:t>4/5/2026</a:t>
            </a:fld>
            <a:endParaRPr lang="en-US"/>
          </a:p>
        </p:txBody>
      </p:sp>
      <p:sp>
        <p:nvSpPr>
          <p:cNvPr id="5" name="Rectangle 34">
            <a:extLst>
              <a:ext uri="{FF2B5EF4-FFF2-40B4-BE49-F238E27FC236}">
                <a16:creationId xmlns:a16="http://schemas.microsoft.com/office/drawing/2014/main" id="{E84A89EB-50F3-BB7D-6B73-D05CE52DA4AC}"/>
              </a:ext>
            </a:extLst>
          </p:cNvPr>
          <p:cNvSpPr>
            <a:spLocks noGrp="1" noChangeArrowheads="1"/>
          </p:cNvSpPr>
          <p:nvPr>
            <p:ph type="sldNum" sz="quarter" idx="11"/>
          </p:nvPr>
        </p:nvSpPr>
        <p:spPr>
          <a:ln/>
        </p:spPr>
        <p:txBody>
          <a:bodyPr/>
          <a:lstStyle>
            <a:lvl1pPr>
              <a:defRPr/>
            </a:lvl1pPr>
          </a:lstStyle>
          <a:p>
            <a:pPr>
              <a:defRPr/>
            </a:pPr>
            <a:fld id="{40CC2F49-8563-4965-BD97-C9BCA7BDB4A0}" type="slidenum">
              <a:rPr lang="en-US" altLang="en-US"/>
              <a:pPr>
                <a:defRPr/>
              </a:pPr>
              <a:t>‹#›</a:t>
            </a:fld>
            <a:endParaRPr lang="en-US" altLang="en-US"/>
          </a:p>
        </p:txBody>
      </p:sp>
    </p:spTree>
    <p:extLst>
      <p:ext uri="{BB962C8B-B14F-4D97-AF65-F5344CB8AC3E}">
        <p14:creationId xmlns:p14="http://schemas.microsoft.com/office/powerpoint/2010/main" val="791274051"/>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D17902E1-820F-4779-A480-1F2F2E17C5C9}"/>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6397" r="12043"/>
          <a:stretch/>
        </p:blipFill>
        <p:spPr bwMode="auto">
          <a:xfrm>
            <a:off x="-1" y="0"/>
            <a:ext cx="9144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26512E9-6107-48EE-BBCE-A29FDCEC281A}"/>
              </a:ext>
            </a:extLst>
          </p:cNvPr>
          <p:cNvSpPr/>
          <p:nvPr userDrawn="1"/>
        </p:nvSpPr>
        <p:spPr>
          <a:xfrm>
            <a:off x="-1" y="0"/>
            <a:ext cx="9144000" cy="6858000"/>
          </a:xfrm>
          <a:prstGeom prst="rect">
            <a:avLst/>
          </a:prstGeom>
          <a:solidFill>
            <a:schemeClr val="accent5">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10E74ACF-A90E-4FF6-9083-036031F39160}"/>
              </a:ext>
            </a:extLst>
          </p:cNvPr>
          <p:cNvSpPr>
            <a:spLocks noGrp="1"/>
          </p:cNvSpPr>
          <p:nvPr>
            <p:ph type="ctrTitle"/>
          </p:nvPr>
        </p:nvSpPr>
        <p:spPr>
          <a:xfrm>
            <a:off x="1143000" y="1122363"/>
            <a:ext cx="6858000" cy="2387600"/>
          </a:xfrm>
        </p:spPr>
        <p:txBody>
          <a:bodyPr anchor="b"/>
          <a:lstStyle>
            <a:lvl1pPr algn="ctr">
              <a:defRPr sz="45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8F6A156-E774-46B1-B893-77F9547F6F59}"/>
              </a:ext>
            </a:extLst>
          </p:cNvPr>
          <p:cNvSpPr>
            <a:spLocks noGrp="1"/>
          </p:cNvSpPr>
          <p:nvPr>
            <p:ph type="subTitle" idx="1"/>
          </p:nvPr>
        </p:nvSpPr>
        <p:spPr>
          <a:xfrm>
            <a:off x="1143000" y="3602038"/>
            <a:ext cx="6858000" cy="1655762"/>
          </a:xfrm>
        </p:spPr>
        <p:txBody>
          <a:bodyPr/>
          <a:lstStyle>
            <a:lvl1pPr marL="0" indent="0" algn="ctr">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a:extLst>
              <a:ext uri="{FF2B5EF4-FFF2-40B4-BE49-F238E27FC236}">
                <a16:creationId xmlns:a16="http://schemas.microsoft.com/office/drawing/2014/main" id="{61B5C1F7-7F89-4EB5-8B20-9FFA339E131E}"/>
              </a:ext>
            </a:extLst>
          </p:cNvPr>
          <p:cNvSpPr>
            <a:spLocks noGrp="1"/>
          </p:cNvSpPr>
          <p:nvPr>
            <p:ph type="dt" sz="half" idx="10"/>
          </p:nvPr>
        </p:nvSpPr>
        <p:spPr/>
        <p:txBody>
          <a:bodyPr/>
          <a:lstStyle/>
          <a:p>
            <a:fld id="{6E061145-99FD-44D1-80D7-234045CA7F2C}" type="datetimeFigureOut">
              <a:rPr lang="en-US" smtClean="0"/>
              <a:t>4/5/2026</a:t>
            </a:fld>
            <a:endParaRPr lang="en-US"/>
          </a:p>
        </p:txBody>
      </p:sp>
      <p:sp>
        <p:nvSpPr>
          <p:cNvPr id="5" name="Footer Placeholder 4">
            <a:extLst>
              <a:ext uri="{FF2B5EF4-FFF2-40B4-BE49-F238E27FC236}">
                <a16:creationId xmlns:a16="http://schemas.microsoft.com/office/drawing/2014/main" id="{7ECB200A-1F8E-4C83-AE6E-D6EC721065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7B3A94-861E-46D5-B24D-0E7A361AFEDE}"/>
              </a:ext>
            </a:extLst>
          </p:cNvPr>
          <p:cNvSpPr>
            <a:spLocks noGrp="1"/>
          </p:cNvSpPr>
          <p:nvPr>
            <p:ph type="sldNum" sz="quarter" idx="12"/>
          </p:nvPr>
        </p:nvSpPr>
        <p:spPr/>
        <p:txBody>
          <a:bodyPr/>
          <a:lstStyle/>
          <a:p>
            <a:fld id="{7F338D10-D8F8-4279-997A-A7124A521E35}" type="slidenum">
              <a:rPr lang="en-US" smtClean="0"/>
              <a:t>‹#›</a:t>
            </a:fld>
            <a:endParaRPr lang="en-US"/>
          </a:p>
        </p:txBody>
      </p:sp>
    </p:spTree>
    <p:extLst>
      <p:ext uri="{BB962C8B-B14F-4D97-AF65-F5344CB8AC3E}">
        <p14:creationId xmlns:p14="http://schemas.microsoft.com/office/powerpoint/2010/main" val="36610090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78F62-598E-42EE-9F7D-D1A3210337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BEEB34-1764-44AC-9E76-B297CEC246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D8D92F-8D98-403C-9391-26056F100E41}"/>
              </a:ext>
            </a:extLst>
          </p:cNvPr>
          <p:cNvSpPr>
            <a:spLocks noGrp="1"/>
          </p:cNvSpPr>
          <p:nvPr>
            <p:ph type="dt" sz="half" idx="10"/>
          </p:nvPr>
        </p:nvSpPr>
        <p:spPr/>
        <p:txBody>
          <a:bodyPr/>
          <a:lstStyle/>
          <a:p>
            <a:fld id="{6E061145-99FD-44D1-80D7-234045CA7F2C}" type="datetimeFigureOut">
              <a:rPr lang="en-US" smtClean="0"/>
              <a:t>4/5/2026</a:t>
            </a:fld>
            <a:endParaRPr lang="en-US"/>
          </a:p>
        </p:txBody>
      </p:sp>
      <p:sp>
        <p:nvSpPr>
          <p:cNvPr id="5" name="Footer Placeholder 4">
            <a:extLst>
              <a:ext uri="{FF2B5EF4-FFF2-40B4-BE49-F238E27FC236}">
                <a16:creationId xmlns:a16="http://schemas.microsoft.com/office/drawing/2014/main" id="{F030A2FA-A021-4399-8CF7-1FB7CB6104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724A1A-B449-48B1-B736-9A24864F495D}"/>
              </a:ext>
            </a:extLst>
          </p:cNvPr>
          <p:cNvSpPr>
            <a:spLocks noGrp="1"/>
          </p:cNvSpPr>
          <p:nvPr>
            <p:ph type="sldNum" sz="quarter" idx="12"/>
          </p:nvPr>
        </p:nvSpPr>
        <p:spPr/>
        <p:txBody>
          <a:bodyPr/>
          <a:lstStyle/>
          <a:p>
            <a:fld id="{7F338D10-D8F8-4279-997A-A7124A521E35}" type="slidenum">
              <a:rPr lang="en-US" smtClean="0"/>
              <a:t>‹#›</a:t>
            </a:fld>
            <a:endParaRPr lang="en-US"/>
          </a:p>
        </p:txBody>
      </p:sp>
    </p:spTree>
    <p:extLst>
      <p:ext uri="{BB962C8B-B14F-4D97-AF65-F5344CB8AC3E}">
        <p14:creationId xmlns:p14="http://schemas.microsoft.com/office/powerpoint/2010/main" val="27697234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AF34908E-CB93-417D-8093-E01DE8105B25}"/>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6397" r="12043"/>
          <a:stretch/>
        </p:blipFill>
        <p:spPr bwMode="auto">
          <a:xfrm>
            <a:off x="-1" y="0"/>
            <a:ext cx="9144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483D59BE-931E-447D-BA56-1929AC43C3D0}"/>
              </a:ext>
            </a:extLst>
          </p:cNvPr>
          <p:cNvSpPr/>
          <p:nvPr userDrawn="1"/>
        </p:nvSpPr>
        <p:spPr>
          <a:xfrm>
            <a:off x="-1" y="0"/>
            <a:ext cx="9144000" cy="6858000"/>
          </a:xfrm>
          <a:prstGeom prst="rect">
            <a:avLst/>
          </a:prstGeom>
          <a:solidFill>
            <a:schemeClr val="accent5">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a:extLst>
              <a:ext uri="{FF2B5EF4-FFF2-40B4-BE49-F238E27FC236}">
                <a16:creationId xmlns:a16="http://schemas.microsoft.com/office/drawing/2014/main" id="{A1B77E58-EA10-4FEA-9ED5-F23803FD9725}"/>
              </a:ext>
            </a:extLst>
          </p:cNvPr>
          <p:cNvSpPr/>
          <p:nvPr userDrawn="1"/>
        </p:nvSpPr>
        <p:spPr>
          <a:xfrm>
            <a:off x="-7933" y="1751529"/>
            <a:ext cx="8791325" cy="3031120"/>
          </a:xfrm>
          <a:custGeom>
            <a:avLst/>
            <a:gdLst>
              <a:gd name="connsiteX0" fmla="*/ 0 w 8791325"/>
              <a:gd name="connsiteY0" fmla="*/ 0 h 3031120"/>
              <a:gd name="connsiteX1" fmla="*/ 8791325 w 8791325"/>
              <a:gd name="connsiteY1" fmla="*/ 0 h 3031120"/>
              <a:gd name="connsiteX2" fmla="*/ 8791325 w 8791325"/>
              <a:gd name="connsiteY2" fmla="*/ 3031120 h 3031120"/>
              <a:gd name="connsiteX3" fmla="*/ 0 w 8791325"/>
              <a:gd name="connsiteY3" fmla="*/ 3031120 h 3031120"/>
              <a:gd name="connsiteX4" fmla="*/ 0 w 8791325"/>
              <a:gd name="connsiteY4" fmla="*/ 0 h 3031120"/>
              <a:gd name="connsiteX0" fmla="*/ 0 w 8791325"/>
              <a:gd name="connsiteY0" fmla="*/ 0 h 3031120"/>
              <a:gd name="connsiteX1" fmla="*/ 8791325 w 8791325"/>
              <a:gd name="connsiteY1" fmla="*/ 0 h 3031120"/>
              <a:gd name="connsiteX2" fmla="*/ 7876925 w 8791325"/>
              <a:gd name="connsiteY2" fmla="*/ 3018241 h 3031120"/>
              <a:gd name="connsiteX3" fmla="*/ 0 w 8791325"/>
              <a:gd name="connsiteY3" fmla="*/ 3031120 h 3031120"/>
              <a:gd name="connsiteX4" fmla="*/ 0 w 8791325"/>
              <a:gd name="connsiteY4" fmla="*/ 0 h 3031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1325" h="3031120">
                <a:moveTo>
                  <a:pt x="0" y="0"/>
                </a:moveTo>
                <a:lnTo>
                  <a:pt x="8791325" y="0"/>
                </a:lnTo>
                <a:lnTo>
                  <a:pt x="7876925" y="3018241"/>
                </a:lnTo>
                <a:lnTo>
                  <a:pt x="0" y="3031120"/>
                </a:lnTo>
                <a:lnTo>
                  <a:pt x="0" y="0"/>
                </a:lnTo>
                <a:close/>
              </a:path>
            </a:pathLst>
          </a:custGeom>
          <a:solidFill>
            <a:srgbClr val="001746">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0"/>
          </a:p>
        </p:txBody>
      </p:sp>
      <p:sp>
        <p:nvSpPr>
          <p:cNvPr id="2" name="Title 1">
            <a:extLst>
              <a:ext uri="{FF2B5EF4-FFF2-40B4-BE49-F238E27FC236}">
                <a16:creationId xmlns:a16="http://schemas.microsoft.com/office/drawing/2014/main" id="{44615984-641F-4CE4-946E-E6986D7E6CEE}"/>
              </a:ext>
            </a:extLst>
          </p:cNvPr>
          <p:cNvSpPr>
            <a:spLocks noGrp="1"/>
          </p:cNvSpPr>
          <p:nvPr>
            <p:ph type="title"/>
          </p:nvPr>
        </p:nvSpPr>
        <p:spPr>
          <a:xfrm>
            <a:off x="636767" y="1787015"/>
            <a:ext cx="4347357" cy="2852737"/>
          </a:xfrm>
        </p:spPr>
        <p:txBody>
          <a:bodyPr anchor="ctr">
            <a:normAutofit/>
          </a:bodyPr>
          <a:lstStyle>
            <a:lvl1pPr>
              <a:defRPr sz="3600">
                <a:solidFill>
                  <a:schemeClr val="bg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649C5A18-825D-4AC4-B789-473D222B38F1}"/>
              </a:ext>
            </a:extLst>
          </p:cNvPr>
          <p:cNvSpPr>
            <a:spLocks noGrp="1"/>
          </p:cNvSpPr>
          <p:nvPr>
            <p:ph type="dt" sz="half" idx="10"/>
          </p:nvPr>
        </p:nvSpPr>
        <p:spPr/>
        <p:txBody>
          <a:bodyPr/>
          <a:lstStyle/>
          <a:p>
            <a:fld id="{6E061145-99FD-44D1-80D7-234045CA7F2C}" type="datetimeFigureOut">
              <a:rPr lang="en-US" smtClean="0"/>
              <a:t>4/5/2026</a:t>
            </a:fld>
            <a:endParaRPr lang="en-US"/>
          </a:p>
        </p:txBody>
      </p:sp>
      <p:sp>
        <p:nvSpPr>
          <p:cNvPr id="5" name="Footer Placeholder 4">
            <a:extLst>
              <a:ext uri="{FF2B5EF4-FFF2-40B4-BE49-F238E27FC236}">
                <a16:creationId xmlns:a16="http://schemas.microsoft.com/office/drawing/2014/main" id="{B0E95D11-56B2-415C-BE6E-9671BAC755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86C230-D1DA-4253-B5E0-9B1C3A77FBE7}"/>
              </a:ext>
            </a:extLst>
          </p:cNvPr>
          <p:cNvSpPr>
            <a:spLocks noGrp="1"/>
          </p:cNvSpPr>
          <p:nvPr>
            <p:ph type="sldNum" sz="quarter" idx="12"/>
          </p:nvPr>
        </p:nvSpPr>
        <p:spPr/>
        <p:txBody>
          <a:bodyPr/>
          <a:lstStyle/>
          <a:p>
            <a:fld id="{7F338D10-D8F8-4279-997A-A7124A521E35}" type="slidenum">
              <a:rPr lang="en-US" smtClean="0"/>
              <a:t>‹#›</a:t>
            </a:fld>
            <a:endParaRPr lang="en-US"/>
          </a:p>
        </p:txBody>
      </p:sp>
      <p:sp>
        <p:nvSpPr>
          <p:cNvPr id="16" name="Parallelogram 15">
            <a:extLst>
              <a:ext uri="{FF2B5EF4-FFF2-40B4-BE49-F238E27FC236}">
                <a16:creationId xmlns:a16="http://schemas.microsoft.com/office/drawing/2014/main" id="{A85DF3A2-B27F-49E7-A175-027BEEC391C1}"/>
              </a:ext>
            </a:extLst>
          </p:cNvPr>
          <p:cNvSpPr/>
          <p:nvPr userDrawn="1"/>
        </p:nvSpPr>
        <p:spPr>
          <a:xfrm>
            <a:off x="5087156" y="2085605"/>
            <a:ext cx="3184301" cy="2379116"/>
          </a:xfrm>
          <a:prstGeom prst="parallelogram">
            <a:avLst>
              <a:gd name="adj" fmla="val 29992"/>
            </a:avLst>
          </a:prstGeom>
          <a:solidFill>
            <a:srgbClr val="001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0"/>
          </a:p>
        </p:txBody>
      </p:sp>
    </p:spTree>
    <p:extLst>
      <p:ext uri="{BB962C8B-B14F-4D97-AF65-F5344CB8AC3E}">
        <p14:creationId xmlns:p14="http://schemas.microsoft.com/office/powerpoint/2010/main" val="21303404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B74AB-85C8-414B-A74F-8DC3D3DB34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30CB53-262C-415F-B510-D51067D2AEC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3B5F58-D50C-4CC8-9DE7-99B9F20FC319}"/>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FFE842-97A3-4A52-9188-22D09FEB780C}"/>
              </a:ext>
            </a:extLst>
          </p:cNvPr>
          <p:cNvSpPr>
            <a:spLocks noGrp="1"/>
          </p:cNvSpPr>
          <p:nvPr>
            <p:ph type="dt" sz="half" idx="10"/>
          </p:nvPr>
        </p:nvSpPr>
        <p:spPr/>
        <p:txBody>
          <a:bodyPr/>
          <a:lstStyle/>
          <a:p>
            <a:fld id="{6E061145-99FD-44D1-80D7-234045CA7F2C}" type="datetimeFigureOut">
              <a:rPr lang="en-US" smtClean="0"/>
              <a:t>4/5/2026</a:t>
            </a:fld>
            <a:endParaRPr lang="en-US"/>
          </a:p>
        </p:txBody>
      </p:sp>
      <p:sp>
        <p:nvSpPr>
          <p:cNvPr id="6" name="Footer Placeholder 5">
            <a:extLst>
              <a:ext uri="{FF2B5EF4-FFF2-40B4-BE49-F238E27FC236}">
                <a16:creationId xmlns:a16="http://schemas.microsoft.com/office/drawing/2014/main" id="{B149F84E-5A1A-4F67-B1FD-C547E26CA8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87B1AD-079D-4E58-9B87-5089AFC4AF7F}"/>
              </a:ext>
            </a:extLst>
          </p:cNvPr>
          <p:cNvSpPr>
            <a:spLocks noGrp="1"/>
          </p:cNvSpPr>
          <p:nvPr>
            <p:ph type="sldNum" sz="quarter" idx="12"/>
          </p:nvPr>
        </p:nvSpPr>
        <p:spPr/>
        <p:txBody>
          <a:bodyPr/>
          <a:lstStyle/>
          <a:p>
            <a:fld id="{7F338D10-D8F8-4279-997A-A7124A521E35}" type="slidenum">
              <a:rPr lang="en-US" smtClean="0"/>
              <a:t>‹#›</a:t>
            </a:fld>
            <a:endParaRPr lang="en-US"/>
          </a:p>
        </p:txBody>
      </p:sp>
    </p:spTree>
    <p:extLst>
      <p:ext uri="{BB962C8B-B14F-4D97-AF65-F5344CB8AC3E}">
        <p14:creationId xmlns:p14="http://schemas.microsoft.com/office/powerpoint/2010/main" val="27092032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38118-4877-4C42-945F-79DC5019E7CE}"/>
              </a:ext>
            </a:extLst>
          </p:cNvPr>
          <p:cNvSpPr>
            <a:spLocks noGrp="1"/>
          </p:cNvSpPr>
          <p:nvPr>
            <p:ph type="title"/>
          </p:nvPr>
        </p:nvSpPr>
        <p:spPr>
          <a:xfrm>
            <a:off x="629841" y="365128"/>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885B4A-350F-4637-A3B2-FD2CF37E011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158EB6C-414B-4624-8085-C91BE82FE07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853B10-26DC-4879-AE19-D2490335065F}"/>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61CA393-6A93-4C89-BCFD-5B589AEC2B02}"/>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6FEB12-ECFE-4BE8-91F5-FBDA03AB1A7C}"/>
              </a:ext>
            </a:extLst>
          </p:cNvPr>
          <p:cNvSpPr>
            <a:spLocks noGrp="1"/>
          </p:cNvSpPr>
          <p:nvPr>
            <p:ph type="dt" sz="half" idx="10"/>
          </p:nvPr>
        </p:nvSpPr>
        <p:spPr/>
        <p:txBody>
          <a:bodyPr/>
          <a:lstStyle/>
          <a:p>
            <a:fld id="{6E061145-99FD-44D1-80D7-234045CA7F2C}" type="datetimeFigureOut">
              <a:rPr lang="en-US" smtClean="0"/>
              <a:t>4/5/2026</a:t>
            </a:fld>
            <a:endParaRPr lang="en-US"/>
          </a:p>
        </p:txBody>
      </p:sp>
      <p:sp>
        <p:nvSpPr>
          <p:cNvPr id="8" name="Footer Placeholder 7">
            <a:extLst>
              <a:ext uri="{FF2B5EF4-FFF2-40B4-BE49-F238E27FC236}">
                <a16:creationId xmlns:a16="http://schemas.microsoft.com/office/drawing/2014/main" id="{FC9FAFBC-20A7-4E78-957F-1D72832DBF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EA8D3A-CC34-4C6F-8C0F-565F34223C14}"/>
              </a:ext>
            </a:extLst>
          </p:cNvPr>
          <p:cNvSpPr>
            <a:spLocks noGrp="1"/>
          </p:cNvSpPr>
          <p:nvPr>
            <p:ph type="sldNum" sz="quarter" idx="12"/>
          </p:nvPr>
        </p:nvSpPr>
        <p:spPr/>
        <p:txBody>
          <a:bodyPr/>
          <a:lstStyle/>
          <a:p>
            <a:fld id="{7F338D10-D8F8-4279-997A-A7124A521E35}" type="slidenum">
              <a:rPr lang="en-US" smtClean="0"/>
              <a:t>‹#›</a:t>
            </a:fld>
            <a:endParaRPr lang="en-US"/>
          </a:p>
        </p:txBody>
      </p:sp>
    </p:spTree>
    <p:extLst>
      <p:ext uri="{BB962C8B-B14F-4D97-AF65-F5344CB8AC3E}">
        <p14:creationId xmlns:p14="http://schemas.microsoft.com/office/powerpoint/2010/main" val="38350742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6ED3C-FF95-4383-A8DA-6473DA8ED2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B3D9B31-8555-4795-AA22-A4F2C8316323}"/>
              </a:ext>
            </a:extLst>
          </p:cNvPr>
          <p:cNvSpPr>
            <a:spLocks noGrp="1"/>
          </p:cNvSpPr>
          <p:nvPr>
            <p:ph type="dt" sz="half" idx="10"/>
          </p:nvPr>
        </p:nvSpPr>
        <p:spPr/>
        <p:txBody>
          <a:bodyPr/>
          <a:lstStyle/>
          <a:p>
            <a:fld id="{6E061145-99FD-44D1-80D7-234045CA7F2C}" type="datetimeFigureOut">
              <a:rPr lang="en-US" smtClean="0"/>
              <a:t>4/5/2026</a:t>
            </a:fld>
            <a:endParaRPr lang="en-US"/>
          </a:p>
        </p:txBody>
      </p:sp>
      <p:sp>
        <p:nvSpPr>
          <p:cNvPr id="4" name="Footer Placeholder 3">
            <a:extLst>
              <a:ext uri="{FF2B5EF4-FFF2-40B4-BE49-F238E27FC236}">
                <a16:creationId xmlns:a16="http://schemas.microsoft.com/office/drawing/2014/main" id="{AB7C446D-85D1-4703-AF80-5E92977E6E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3D4EDE-2524-400D-A26D-F5323A9B6959}"/>
              </a:ext>
            </a:extLst>
          </p:cNvPr>
          <p:cNvSpPr>
            <a:spLocks noGrp="1"/>
          </p:cNvSpPr>
          <p:nvPr>
            <p:ph type="sldNum" sz="quarter" idx="12"/>
          </p:nvPr>
        </p:nvSpPr>
        <p:spPr/>
        <p:txBody>
          <a:bodyPr/>
          <a:lstStyle/>
          <a:p>
            <a:fld id="{7F338D10-D8F8-4279-997A-A7124A521E35}" type="slidenum">
              <a:rPr lang="en-US" smtClean="0"/>
              <a:t>‹#›</a:t>
            </a:fld>
            <a:endParaRPr lang="en-US"/>
          </a:p>
        </p:txBody>
      </p:sp>
    </p:spTree>
    <p:extLst>
      <p:ext uri="{BB962C8B-B14F-4D97-AF65-F5344CB8AC3E}">
        <p14:creationId xmlns:p14="http://schemas.microsoft.com/office/powerpoint/2010/main" val="14365595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A949EC-C8BE-4532-B243-921D4823BDAC}"/>
              </a:ext>
            </a:extLst>
          </p:cNvPr>
          <p:cNvSpPr>
            <a:spLocks noGrp="1"/>
          </p:cNvSpPr>
          <p:nvPr>
            <p:ph type="dt" sz="half" idx="10"/>
          </p:nvPr>
        </p:nvSpPr>
        <p:spPr/>
        <p:txBody>
          <a:bodyPr/>
          <a:lstStyle/>
          <a:p>
            <a:fld id="{6E061145-99FD-44D1-80D7-234045CA7F2C}" type="datetimeFigureOut">
              <a:rPr lang="en-US" smtClean="0"/>
              <a:t>4/5/2026</a:t>
            </a:fld>
            <a:endParaRPr lang="en-US"/>
          </a:p>
        </p:txBody>
      </p:sp>
      <p:sp>
        <p:nvSpPr>
          <p:cNvPr id="3" name="Footer Placeholder 2">
            <a:extLst>
              <a:ext uri="{FF2B5EF4-FFF2-40B4-BE49-F238E27FC236}">
                <a16:creationId xmlns:a16="http://schemas.microsoft.com/office/drawing/2014/main" id="{59B64D44-FB62-4186-B170-9D1A929903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ADBC80-22B4-4596-B2C4-CB1B1EF3C0AC}"/>
              </a:ext>
            </a:extLst>
          </p:cNvPr>
          <p:cNvSpPr>
            <a:spLocks noGrp="1"/>
          </p:cNvSpPr>
          <p:nvPr>
            <p:ph type="sldNum" sz="quarter" idx="12"/>
          </p:nvPr>
        </p:nvSpPr>
        <p:spPr/>
        <p:txBody>
          <a:bodyPr/>
          <a:lstStyle/>
          <a:p>
            <a:fld id="{7F338D10-D8F8-4279-997A-A7124A521E35}" type="slidenum">
              <a:rPr lang="en-US" smtClean="0"/>
              <a:t>‹#›</a:t>
            </a:fld>
            <a:endParaRPr lang="en-US"/>
          </a:p>
        </p:txBody>
      </p:sp>
    </p:spTree>
    <p:extLst>
      <p:ext uri="{BB962C8B-B14F-4D97-AF65-F5344CB8AC3E}">
        <p14:creationId xmlns:p14="http://schemas.microsoft.com/office/powerpoint/2010/main" val="35293361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2D222-55B0-44FE-9915-60683E10D7B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11B42972-63AE-4249-8AC6-E289166D30D7}"/>
              </a:ext>
            </a:extLst>
          </p:cNvPr>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E80224-1B2D-4182-8939-CF79D2666F6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7D92CD1-3E7A-4FBE-BE7A-3830AAFACD2D}"/>
              </a:ext>
            </a:extLst>
          </p:cNvPr>
          <p:cNvSpPr>
            <a:spLocks noGrp="1"/>
          </p:cNvSpPr>
          <p:nvPr>
            <p:ph type="dt" sz="half" idx="10"/>
          </p:nvPr>
        </p:nvSpPr>
        <p:spPr/>
        <p:txBody>
          <a:bodyPr/>
          <a:lstStyle/>
          <a:p>
            <a:fld id="{6E061145-99FD-44D1-80D7-234045CA7F2C}" type="datetimeFigureOut">
              <a:rPr lang="en-US" smtClean="0"/>
              <a:t>4/5/2026</a:t>
            </a:fld>
            <a:endParaRPr lang="en-US"/>
          </a:p>
        </p:txBody>
      </p:sp>
      <p:sp>
        <p:nvSpPr>
          <p:cNvPr id="6" name="Footer Placeholder 5">
            <a:extLst>
              <a:ext uri="{FF2B5EF4-FFF2-40B4-BE49-F238E27FC236}">
                <a16:creationId xmlns:a16="http://schemas.microsoft.com/office/drawing/2014/main" id="{485274FF-316A-47BB-BBB5-0F7D7BDB56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CC6FA7-CD1D-41BC-9922-1C5B911BC36D}"/>
              </a:ext>
            </a:extLst>
          </p:cNvPr>
          <p:cNvSpPr>
            <a:spLocks noGrp="1"/>
          </p:cNvSpPr>
          <p:nvPr>
            <p:ph type="sldNum" sz="quarter" idx="12"/>
          </p:nvPr>
        </p:nvSpPr>
        <p:spPr/>
        <p:txBody>
          <a:bodyPr/>
          <a:lstStyle/>
          <a:p>
            <a:fld id="{7F338D10-D8F8-4279-997A-A7124A521E35}" type="slidenum">
              <a:rPr lang="en-US" smtClean="0"/>
              <a:t>‹#›</a:t>
            </a:fld>
            <a:endParaRPr lang="en-US"/>
          </a:p>
        </p:txBody>
      </p:sp>
    </p:spTree>
    <p:extLst>
      <p:ext uri="{BB962C8B-B14F-4D97-AF65-F5344CB8AC3E}">
        <p14:creationId xmlns:p14="http://schemas.microsoft.com/office/powerpoint/2010/main" val="1542491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81DC0-24B5-40E4-9D8C-FD365AA19B0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1E62F2F6-0126-446C-B591-7435BD38DB11}"/>
              </a:ext>
            </a:extLst>
          </p:cNvPr>
          <p:cNvSpPr>
            <a:spLocks noGrp="1"/>
          </p:cNvSpPr>
          <p:nvPr>
            <p:ph type="pic" idx="1"/>
          </p:nvPr>
        </p:nvSpPr>
        <p:spPr>
          <a:xfrm>
            <a:off x="3887391" y="987428"/>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267BBC87-6D5C-4034-AF6F-CBB74C7C653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3CB37D0-66DC-41A0-B64A-F7EC24A3CD1B}"/>
              </a:ext>
            </a:extLst>
          </p:cNvPr>
          <p:cNvSpPr>
            <a:spLocks noGrp="1"/>
          </p:cNvSpPr>
          <p:nvPr>
            <p:ph type="dt" sz="half" idx="10"/>
          </p:nvPr>
        </p:nvSpPr>
        <p:spPr/>
        <p:txBody>
          <a:bodyPr/>
          <a:lstStyle/>
          <a:p>
            <a:fld id="{6E061145-99FD-44D1-80D7-234045CA7F2C}" type="datetimeFigureOut">
              <a:rPr lang="en-US" smtClean="0"/>
              <a:t>4/5/2026</a:t>
            </a:fld>
            <a:endParaRPr lang="en-US"/>
          </a:p>
        </p:txBody>
      </p:sp>
      <p:sp>
        <p:nvSpPr>
          <p:cNvPr id="6" name="Footer Placeholder 5">
            <a:extLst>
              <a:ext uri="{FF2B5EF4-FFF2-40B4-BE49-F238E27FC236}">
                <a16:creationId xmlns:a16="http://schemas.microsoft.com/office/drawing/2014/main" id="{3FDF25B3-7098-4196-9F2A-8D9B206E03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74CC8A-7E52-4A79-ACD9-779804559748}"/>
              </a:ext>
            </a:extLst>
          </p:cNvPr>
          <p:cNvSpPr>
            <a:spLocks noGrp="1"/>
          </p:cNvSpPr>
          <p:nvPr>
            <p:ph type="sldNum" sz="quarter" idx="12"/>
          </p:nvPr>
        </p:nvSpPr>
        <p:spPr/>
        <p:txBody>
          <a:bodyPr/>
          <a:lstStyle/>
          <a:p>
            <a:fld id="{7F338D10-D8F8-4279-997A-A7124A521E35}" type="slidenum">
              <a:rPr lang="en-US" smtClean="0"/>
              <a:t>‹#›</a:t>
            </a:fld>
            <a:endParaRPr lang="en-US"/>
          </a:p>
        </p:txBody>
      </p:sp>
    </p:spTree>
    <p:extLst>
      <p:ext uri="{BB962C8B-B14F-4D97-AF65-F5344CB8AC3E}">
        <p14:creationId xmlns:p14="http://schemas.microsoft.com/office/powerpoint/2010/main" val="41673296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8497-A9C4-4B1C-A465-F937A8A619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54C2E9-0D7C-45A1-A001-1654121609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FAA977-6D9C-4C98-9BE4-E83006EE17A3}"/>
              </a:ext>
            </a:extLst>
          </p:cNvPr>
          <p:cNvSpPr>
            <a:spLocks noGrp="1"/>
          </p:cNvSpPr>
          <p:nvPr>
            <p:ph type="dt" sz="half" idx="10"/>
          </p:nvPr>
        </p:nvSpPr>
        <p:spPr/>
        <p:txBody>
          <a:bodyPr/>
          <a:lstStyle/>
          <a:p>
            <a:fld id="{6E061145-99FD-44D1-80D7-234045CA7F2C}" type="datetimeFigureOut">
              <a:rPr lang="en-US" smtClean="0"/>
              <a:t>4/5/2026</a:t>
            </a:fld>
            <a:endParaRPr lang="en-US"/>
          </a:p>
        </p:txBody>
      </p:sp>
      <p:sp>
        <p:nvSpPr>
          <p:cNvPr id="5" name="Footer Placeholder 4">
            <a:extLst>
              <a:ext uri="{FF2B5EF4-FFF2-40B4-BE49-F238E27FC236}">
                <a16:creationId xmlns:a16="http://schemas.microsoft.com/office/drawing/2014/main" id="{D0072FA7-4436-4E6F-BC65-2CF78D290E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74B641-3D2C-4C58-B9AE-EEF5564331EF}"/>
              </a:ext>
            </a:extLst>
          </p:cNvPr>
          <p:cNvSpPr>
            <a:spLocks noGrp="1"/>
          </p:cNvSpPr>
          <p:nvPr>
            <p:ph type="sldNum" sz="quarter" idx="12"/>
          </p:nvPr>
        </p:nvSpPr>
        <p:spPr/>
        <p:txBody>
          <a:bodyPr/>
          <a:lstStyle/>
          <a:p>
            <a:fld id="{7F338D10-D8F8-4279-997A-A7124A521E35}" type="slidenum">
              <a:rPr lang="en-US" smtClean="0"/>
              <a:t>‹#›</a:t>
            </a:fld>
            <a:endParaRPr lang="en-US"/>
          </a:p>
        </p:txBody>
      </p:sp>
    </p:spTree>
    <p:extLst>
      <p:ext uri="{BB962C8B-B14F-4D97-AF65-F5344CB8AC3E}">
        <p14:creationId xmlns:p14="http://schemas.microsoft.com/office/powerpoint/2010/main" val="40826054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A04ED0-0EB6-4C3D-939C-84F0743A4A88}"/>
              </a:ext>
            </a:extLst>
          </p:cNvPr>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BD18C7-8BF4-4C36-B683-C40969E7719D}"/>
              </a:ext>
            </a:extLst>
          </p:cNvPr>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F0F21B-D6A2-4444-BACD-2841155DAC94}"/>
              </a:ext>
            </a:extLst>
          </p:cNvPr>
          <p:cNvSpPr>
            <a:spLocks noGrp="1"/>
          </p:cNvSpPr>
          <p:nvPr>
            <p:ph type="dt" sz="half" idx="10"/>
          </p:nvPr>
        </p:nvSpPr>
        <p:spPr/>
        <p:txBody>
          <a:bodyPr/>
          <a:lstStyle/>
          <a:p>
            <a:fld id="{6E061145-99FD-44D1-80D7-234045CA7F2C}" type="datetimeFigureOut">
              <a:rPr lang="en-US" smtClean="0"/>
              <a:t>4/5/2026</a:t>
            </a:fld>
            <a:endParaRPr lang="en-US"/>
          </a:p>
        </p:txBody>
      </p:sp>
      <p:sp>
        <p:nvSpPr>
          <p:cNvPr id="5" name="Footer Placeholder 4">
            <a:extLst>
              <a:ext uri="{FF2B5EF4-FFF2-40B4-BE49-F238E27FC236}">
                <a16:creationId xmlns:a16="http://schemas.microsoft.com/office/drawing/2014/main" id="{83C15A26-D73E-4190-9B0E-7531DC01B0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F75DFC-4C08-401C-9209-20F213B95EBD}"/>
              </a:ext>
            </a:extLst>
          </p:cNvPr>
          <p:cNvSpPr>
            <a:spLocks noGrp="1"/>
          </p:cNvSpPr>
          <p:nvPr>
            <p:ph type="sldNum" sz="quarter" idx="12"/>
          </p:nvPr>
        </p:nvSpPr>
        <p:spPr/>
        <p:txBody>
          <a:bodyPr/>
          <a:lstStyle/>
          <a:p>
            <a:fld id="{7F338D10-D8F8-4279-997A-A7124A521E35}" type="slidenum">
              <a:rPr lang="en-US" smtClean="0"/>
              <a:t>‹#›</a:t>
            </a:fld>
            <a:endParaRPr lang="en-US"/>
          </a:p>
        </p:txBody>
      </p:sp>
    </p:spTree>
    <p:extLst>
      <p:ext uri="{BB962C8B-B14F-4D97-AF65-F5344CB8AC3E}">
        <p14:creationId xmlns:p14="http://schemas.microsoft.com/office/powerpoint/2010/main" val="27275110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15984-641F-4CE4-946E-E6986D7E6CEE}"/>
              </a:ext>
            </a:extLst>
          </p:cNvPr>
          <p:cNvSpPr>
            <a:spLocks noGrp="1"/>
          </p:cNvSpPr>
          <p:nvPr>
            <p:ph type="title"/>
          </p:nvPr>
        </p:nvSpPr>
        <p:spPr>
          <a:xfrm>
            <a:off x="623888" y="1709741"/>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A9B6628-6A46-4533-8AE1-F2ED5C1E45AC}"/>
              </a:ext>
            </a:extLst>
          </p:cNvPr>
          <p:cNvSpPr>
            <a:spLocks noGrp="1"/>
          </p:cNvSpPr>
          <p:nvPr>
            <p:ph type="body" idx="1"/>
          </p:nvPr>
        </p:nvSpPr>
        <p:spPr>
          <a:xfrm>
            <a:off x="623888" y="4589466"/>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9C5A18-825D-4AC4-B789-473D222B38F1}"/>
              </a:ext>
            </a:extLst>
          </p:cNvPr>
          <p:cNvSpPr>
            <a:spLocks noGrp="1"/>
          </p:cNvSpPr>
          <p:nvPr>
            <p:ph type="dt" sz="half" idx="10"/>
          </p:nvPr>
        </p:nvSpPr>
        <p:spPr/>
        <p:txBody>
          <a:bodyPr/>
          <a:lstStyle/>
          <a:p>
            <a:fld id="{6E061145-99FD-44D1-80D7-234045CA7F2C}" type="datetimeFigureOut">
              <a:rPr lang="en-US" smtClean="0"/>
              <a:t>4/5/2026</a:t>
            </a:fld>
            <a:endParaRPr lang="en-US"/>
          </a:p>
        </p:txBody>
      </p:sp>
      <p:sp>
        <p:nvSpPr>
          <p:cNvPr id="5" name="Footer Placeholder 4">
            <a:extLst>
              <a:ext uri="{FF2B5EF4-FFF2-40B4-BE49-F238E27FC236}">
                <a16:creationId xmlns:a16="http://schemas.microsoft.com/office/drawing/2014/main" id="{B0E95D11-56B2-415C-BE6E-9671BAC755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86C230-D1DA-4253-B5E0-9B1C3A77FBE7}"/>
              </a:ext>
            </a:extLst>
          </p:cNvPr>
          <p:cNvSpPr>
            <a:spLocks noGrp="1"/>
          </p:cNvSpPr>
          <p:nvPr>
            <p:ph type="sldNum" sz="quarter" idx="12"/>
          </p:nvPr>
        </p:nvSpPr>
        <p:spPr/>
        <p:txBody>
          <a:bodyPr/>
          <a:lstStyle/>
          <a:p>
            <a:fld id="{7F338D10-D8F8-4279-997A-A7124A521E35}" type="slidenum">
              <a:rPr lang="en-US" smtClean="0"/>
              <a:t>‹#›</a:t>
            </a:fld>
            <a:endParaRPr lang="en-US"/>
          </a:p>
        </p:txBody>
      </p:sp>
    </p:spTree>
    <p:extLst>
      <p:ext uri="{BB962C8B-B14F-4D97-AF65-F5344CB8AC3E}">
        <p14:creationId xmlns:p14="http://schemas.microsoft.com/office/powerpoint/2010/main" val="21606660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jpg"/><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3.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7"/>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 id="214748369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3FA1B40-9737-48AB-A105-E003E24D677F}"/>
              </a:ext>
            </a:extLst>
          </p:cNvPr>
          <p:cNvSpPr/>
          <p:nvPr userDrawn="1"/>
        </p:nvSpPr>
        <p:spPr>
          <a:xfrm>
            <a:off x="0" y="2"/>
            <a:ext cx="9144000" cy="1133341"/>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Placeholder 1">
            <a:extLst>
              <a:ext uri="{FF2B5EF4-FFF2-40B4-BE49-F238E27FC236}">
                <a16:creationId xmlns:a16="http://schemas.microsoft.com/office/drawing/2014/main" id="{F90D66E7-BA29-49D0-B114-C137D91C838A}"/>
              </a:ext>
            </a:extLst>
          </p:cNvPr>
          <p:cNvSpPr>
            <a:spLocks noGrp="1"/>
          </p:cNvSpPr>
          <p:nvPr>
            <p:ph type="title"/>
          </p:nvPr>
        </p:nvSpPr>
        <p:spPr>
          <a:xfrm>
            <a:off x="628650" y="17394"/>
            <a:ext cx="7886700" cy="111594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1A456D-E871-43CF-A7EE-D1B06DA8BAAE}"/>
              </a:ext>
            </a:extLst>
          </p:cNvPr>
          <p:cNvSpPr>
            <a:spLocks noGrp="1"/>
          </p:cNvSpPr>
          <p:nvPr>
            <p:ph type="body" idx="1"/>
          </p:nvPr>
        </p:nvSpPr>
        <p:spPr>
          <a:xfrm>
            <a:off x="628650" y="1522346"/>
            <a:ext cx="7886700" cy="46546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379F3F3-53F9-40B5-85E2-58C484D0BB2A}"/>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E061145-99FD-44D1-80D7-234045CA7F2C}" type="datetimeFigureOut">
              <a:rPr lang="en-US" smtClean="0"/>
              <a:t>4/5/2026</a:t>
            </a:fld>
            <a:endParaRPr lang="en-US"/>
          </a:p>
        </p:txBody>
      </p:sp>
      <p:sp>
        <p:nvSpPr>
          <p:cNvPr id="5" name="Footer Placeholder 4">
            <a:extLst>
              <a:ext uri="{FF2B5EF4-FFF2-40B4-BE49-F238E27FC236}">
                <a16:creationId xmlns:a16="http://schemas.microsoft.com/office/drawing/2014/main" id="{C16D1374-D22B-4CD0-872B-F3392C165B1F}"/>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A671D9F-2898-4993-8B9F-D0E43F3A5F4A}"/>
              </a:ext>
            </a:extLst>
          </p:cNvPr>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F338D10-D8F8-4279-997A-A7124A521E35}" type="slidenum">
              <a:rPr lang="en-US" smtClean="0"/>
              <a:t>‹#›</a:t>
            </a:fld>
            <a:endParaRPr lang="en-US"/>
          </a:p>
        </p:txBody>
      </p:sp>
      <p:sp>
        <p:nvSpPr>
          <p:cNvPr id="11" name="Rectangle 10">
            <a:extLst>
              <a:ext uri="{FF2B5EF4-FFF2-40B4-BE49-F238E27FC236}">
                <a16:creationId xmlns:a16="http://schemas.microsoft.com/office/drawing/2014/main" id="{FC781480-33FF-43E7-8756-894F1782828C}"/>
              </a:ext>
            </a:extLst>
          </p:cNvPr>
          <p:cNvSpPr/>
          <p:nvPr userDrawn="1"/>
        </p:nvSpPr>
        <p:spPr>
          <a:xfrm>
            <a:off x="0" y="6721476"/>
            <a:ext cx="9144000" cy="136524"/>
          </a:xfrm>
          <a:prstGeom prst="rect">
            <a:avLst/>
          </a:prstGeom>
          <a:solidFill>
            <a:srgbClr val="001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66865086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txStyles>
    <p:titleStyle>
      <a:lvl1pPr algn="l" defTabSz="685800" rtl="0" eaLnBrk="1" latinLnBrk="0" hangingPunct="1">
        <a:lnSpc>
          <a:spcPct val="90000"/>
        </a:lnSpc>
        <a:spcBef>
          <a:spcPct val="0"/>
        </a:spcBef>
        <a:buNone/>
        <a:defRPr sz="3000" kern="1200">
          <a:solidFill>
            <a:schemeClr val="tx1">
              <a:lumMod val="85000"/>
              <a:lumOff val="15000"/>
            </a:schemeClr>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lumMod val="65000"/>
              <a:lumOff val="35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lumMod val="65000"/>
              <a:lumOff val="35000"/>
            </a:schemeClr>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lumMod val="65000"/>
              <a:lumOff val="35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65000"/>
              <a:lumOff val="35000"/>
            </a:schemeClr>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65000"/>
              <a:lumOff val="3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hyperlink" Target="https://liveexample.pearsoncmg.com/html/TestGeometricObject.html" TargetMode="External"/><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hyperlink" Target="https://liveexample.pearsoncmg.com/html/Rectangle.html" TargetMode="External"/><Relationship Id="rId5" Type="http://schemas.openxmlformats.org/officeDocument/2006/relationships/hyperlink" Target="https://liveexample.pearsoncmg.com/html/Circle.html" TargetMode="External"/><Relationship Id="rId4" Type="http://schemas.openxmlformats.org/officeDocument/2006/relationships/hyperlink" Target="https://liveexample.pearsoncmg.com/html/GeometricObject.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hyperlink" Target="https://liveexample.pearsoncmg.com/html/LargestNumbers.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hyperlink" Target="https://liveexample.pearsoncmg.com/html/TestEdible.html" TargetMode="External"/><Relationship Id="rId4" Type="http://schemas.openxmlformats.org/officeDocument/2006/relationships/hyperlink" Target="https://liveexample.pearsoncmg.com/html/Edible.htm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hyperlink" Target="https://liveexample.pearsoncmg.com/html/SortRectangles.html" TargetMode="External"/><Relationship Id="rId4" Type="http://schemas.openxmlformats.org/officeDocument/2006/relationships/hyperlink" Target="https://liveexample.pearsoncmg.com/html/ComparableRectangle.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hyperlink" Target="https://liveexample.pearsoncmg.com/html/House.html" TargetMode="External"/><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5">
            <a:extLst>
              <a:ext uri="{FF2B5EF4-FFF2-40B4-BE49-F238E27FC236}">
                <a16:creationId xmlns:a16="http://schemas.microsoft.com/office/drawing/2014/main" id="{5EF17843-85DC-1CCB-BC45-5853CE951FCF}"/>
              </a:ext>
            </a:extLst>
          </p:cNvPr>
          <p:cNvSpPr/>
          <p:nvPr/>
        </p:nvSpPr>
        <p:spPr>
          <a:xfrm>
            <a:off x="0" y="5473071"/>
            <a:ext cx="8848198" cy="1388919"/>
          </a:xfrm>
          <a:prstGeom prst="rect">
            <a:avLst/>
          </a:prstGeom>
          <a:solidFill>
            <a:srgbClr val="001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sym typeface="Arial"/>
            </a:endParaRPr>
          </a:p>
        </p:txBody>
      </p:sp>
      <p:sp>
        <p:nvSpPr>
          <p:cNvPr id="13" name="Rectangle 12">
            <a:extLst>
              <a:ext uri="{FF2B5EF4-FFF2-40B4-BE49-F238E27FC236}">
                <a16:creationId xmlns:a16="http://schemas.microsoft.com/office/drawing/2014/main" id="{86A41F47-18B4-437D-A366-0F6A0AD1DD39}"/>
              </a:ext>
            </a:extLst>
          </p:cNvPr>
          <p:cNvSpPr/>
          <p:nvPr/>
        </p:nvSpPr>
        <p:spPr>
          <a:xfrm>
            <a:off x="5949" y="3336653"/>
            <a:ext cx="8855903" cy="780563"/>
          </a:xfrm>
          <a:prstGeom prst="rect">
            <a:avLst/>
          </a:prstGeom>
          <a:solidFill>
            <a:srgbClr val="001746">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2" name="Rectangle 11">
            <a:extLst>
              <a:ext uri="{FF2B5EF4-FFF2-40B4-BE49-F238E27FC236}">
                <a16:creationId xmlns:a16="http://schemas.microsoft.com/office/drawing/2014/main" id="{8293A1EB-3E12-4085-BFBB-365AF746ED7A}"/>
              </a:ext>
            </a:extLst>
          </p:cNvPr>
          <p:cNvSpPr/>
          <p:nvPr/>
        </p:nvSpPr>
        <p:spPr>
          <a:xfrm>
            <a:off x="1" y="1650426"/>
            <a:ext cx="8855903" cy="1326630"/>
          </a:xfrm>
          <a:prstGeom prst="rect">
            <a:avLst/>
          </a:prstGeom>
          <a:solidFill>
            <a:srgbClr val="001746">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 name="Title 1">
            <a:extLst>
              <a:ext uri="{FF2B5EF4-FFF2-40B4-BE49-F238E27FC236}">
                <a16:creationId xmlns:a16="http://schemas.microsoft.com/office/drawing/2014/main" id="{53F1F8C3-C943-4A20-9D73-7FF0A1AD87AA}"/>
              </a:ext>
            </a:extLst>
          </p:cNvPr>
          <p:cNvSpPr>
            <a:spLocks noGrp="1"/>
          </p:cNvSpPr>
          <p:nvPr>
            <p:ph type="ctrTitle"/>
          </p:nvPr>
        </p:nvSpPr>
        <p:spPr>
          <a:xfrm>
            <a:off x="554804" y="1650426"/>
            <a:ext cx="8041505" cy="1250485"/>
          </a:xfrm>
        </p:spPr>
        <p:txBody>
          <a:bodyPr>
            <a:noAutofit/>
          </a:bodyPr>
          <a:lstStyle/>
          <a:p>
            <a:pPr algn="l"/>
            <a:r>
              <a:rPr lang="en-US" sz="3200" dirty="0"/>
              <a:t>Object-Oriented Programming</a:t>
            </a:r>
            <a:br>
              <a:rPr lang="en-US" sz="3200" dirty="0"/>
            </a:br>
            <a:r>
              <a:rPr lang="en-US" sz="3200" dirty="0"/>
              <a:t>(COSC 102)</a:t>
            </a:r>
          </a:p>
        </p:txBody>
      </p:sp>
      <p:sp>
        <p:nvSpPr>
          <p:cNvPr id="8" name="Subtitle 2">
            <a:extLst>
              <a:ext uri="{FF2B5EF4-FFF2-40B4-BE49-F238E27FC236}">
                <a16:creationId xmlns:a16="http://schemas.microsoft.com/office/drawing/2014/main" id="{A1A46248-B2B3-44FD-88AF-ECEBABB8ED9A}"/>
              </a:ext>
            </a:extLst>
          </p:cNvPr>
          <p:cNvSpPr txBox="1">
            <a:spLocks/>
          </p:cNvSpPr>
          <p:nvPr/>
        </p:nvSpPr>
        <p:spPr>
          <a:xfrm>
            <a:off x="412568" y="5963966"/>
            <a:ext cx="6069512" cy="553791"/>
          </a:xfrm>
          <a:prstGeom prst="rect">
            <a:avLst/>
          </a:prstGeom>
        </p:spPr>
        <p:txBody>
          <a:bodyPr vert="horz" lIns="68580" tIns="34290" rIns="68580" bIns="34290" rtlCol="0">
            <a:noAutofit/>
          </a:bodyPr>
          <a:lstStyle>
            <a:lvl1pPr indent="0">
              <a:lnSpc>
                <a:spcPct val="90000"/>
              </a:lnSpc>
              <a:spcBef>
                <a:spcPts val="1000"/>
              </a:spcBef>
              <a:buFont typeface="Arial" panose="020B0604020202020204" pitchFamily="34" charset="0"/>
              <a:buNone/>
              <a:defRPr sz="2400"/>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pPr marL="0" marR="0" lvl="0" indent="0" algn="l" defTabSz="685800" rtl="0" eaLnBrk="1" fontAlgn="auto" latinLnBrk="0" hangingPunct="1">
              <a:lnSpc>
                <a:spcPct val="80000"/>
              </a:lnSpc>
              <a:spcBef>
                <a:spcPts val="75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Arial"/>
                <a:sym typeface="Arial"/>
              </a:rPr>
              <a:t>Prepared by: Ms. Khadija Almohsen</a:t>
            </a:r>
          </a:p>
          <a:p>
            <a:pPr marL="0" marR="0" lvl="0" indent="0" algn="l" defTabSz="685800" rtl="0" eaLnBrk="1" fontAlgn="auto" latinLnBrk="0" hangingPunct="1">
              <a:lnSpc>
                <a:spcPct val="80000"/>
              </a:lnSpc>
              <a:spcBef>
                <a:spcPts val="75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Arial"/>
                <a:sym typeface="Arial"/>
              </a:rPr>
              <a:t>Adopted from the textbook – Chapter 13</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Arial"/>
              <a:sym typeface="Arial"/>
            </a:endParaRPr>
          </a:p>
        </p:txBody>
      </p:sp>
      <p:sp>
        <p:nvSpPr>
          <p:cNvPr id="11" name="Subtitle 2">
            <a:extLst>
              <a:ext uri="{FF2B5EF4-FFF2-40B4-BE49-F238E27FC236}">
                <a16:creationId xmlns:a16="http://schemas.microsoft.com/office/drawing/2014/main" id="{7B368E55-862F-4B19-89F0-4E3911FC9A6A}"/>
              </a:ext>
            </a:extLst>
          </p:cNvPr>
          <p:cNvSpPr txBox="1">
            <a:spLocks/>
          </p:cNvSpPr>
          <p:nvPr/>
        </p:nvSpPr>
        <p:spPr>
          <a:xfrm>
            <a:off x="551830" y="3543906"/>
            <a:ext cx="8041505" cy="380409"/>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lumMod val="65000"/>
                    <a:lumOff val="3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lumMod val="65000"/>
                    <a:lumOff val="3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65000"/>
                    <a:lumOff val="3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65000"/>
                    <a:lumOff val="3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white"/>
                </a:solidFill>
                <a:effectLst/>
                <a:uLnTx/>
                <a:uFillTx/>
                <a:latin typeface="Calibri Light" panose="020F0302020204030204"/>
                <a:ea typeface="+mn-ea"/>
                <a:cs typeface="+mn-cs"/>
                <a:sym typeface="Arial"/>
              </a:rPr>
              <a:t>Topic 10 &amp; 11: Abstract Classes &amp; Interfaces</a:t>
            </a:r>
          </a:p>
        </p:txBody>
      </p:sp>
      <p:sp>
        <p:nvSpPr>
          <p:cNvPr id="7" name="Right Triangle 3">
            <a:extLst>
              <a:ext uri="{FF2B5EF4-FFF2-40B4-BE49-F238E27FC236}">
                <a16:creationId xmlns:a16="http://schemas.microsoft.com/office/drawing/2014/main" id="{EA6B2330-0849-F71C-60F2-2EAA2493B4A1}"/>
              </a:ext>
            </a:extLst>
          </p:cNvPr>
          <p:cNvSpPr/>
          <p:nvPr/>
        </p:nvSpPr>
        <p:spPr>
          <a:xfrm flipH="1">
            <a:off x="8847506" y="0"/>
            <a:ext cx="288097" cy="6858000"/>
          </a:xfrm>
          <a:prstGeom prst="rect">
            <a:avLst/>
          </a:prstGeom>
          <a:solidFill>
            <a:srgbClr val="001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sym typeface="Arial"/>
            </a:endParaRPr>
          </a:p>
        </p:txBody>
      </p:sp>
      <p:pic>
        <p:nvPicPr>
          <p:cNvPr id="14" name="Picture 13" descr="A picture containing drawing, room&#10;&#10;Description automatically generated">
            <a:extLst>
              <a:ext uri="{FF2B5EF4-FFF2-40B4-BE49-F238E27FC236}">
                <a16:creationId xmlns:a16="http://schemas.microsoft.com/office/drawing/2014/main" id="{07691168-35E1-762A-665A-4A20AABE5E5B}"/>
              </a:ext>
            </a:extLst>
          </p:cNvPr>
          <p:cNvPicPr>
            <a:picLocks noChangeAspect="1"/>
          </p:cNvPicPr>
          <p:nvPr/>
        </p:nvPicPr>
        <p:blipFill rotWithShape="1">
          <a:blip r:embed="rId3">
            <a:lum bright="70000" contrast="-70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p:blipFill>
        <p:spPr>
          <a:xfrm>
            <a:off x="6352780" y="5706395"/>
            <a:ext cx="2369127" cy="922270"/>
          </a:xfrm>
          <a:prstGeom prst="rect">
            <a:avLst/>
          </a:prstGeom>
        </p:spPr>
      </p:pic>
    </p:spTree>
    <p:extLst>
      <p:ext uri="{BB962C8B-B14F-4D97-AF65-F5344CB8AC3E}">
        <p14:creationId xmlns:p14="http://schemas.microsoft.com/office/powerpoint/2010/main" val="1011817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200" y="143692"/>
            <a:ext cx="8058728" cy="987333"/>
          </a:xfrm>
        </p:spPr>
        <p:txBody>
          <a:bodyPr anchor="ctr"/>
          <a:lstStyle/>
          <a:p>
            <a:r>
              <a:rPr lang="en-US" sz="3000" dirty="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solidFill>
                  <a:schemeClr val="tx2"/>
                </a:solidFill>
              </a:rPr>
              <a:t>Thirteenth Edition</a:t>
            </a:r>
          </a:p>
        </p:txBody>
      </p:sp>
      <p:pic>
        <p:nvPicPr>
          <p:cNvPr id="9" name="Picture 8" descr="Front Cover: Introduction to Java Programming and Data Structures Thirteenth Edition by Liang.">
            <a:extLst>
              <a:ext uri="{FF2B5EF4-FFF2-40B4-BE49-F238E27FC236}">
                <a16:creationId xmlns:a16="http://schemas.microsoft.com/office/drawing/2014/main" id="{8A5F8486-DE47-401B-85BE-9FB51A955BD6}"/>
              </a:ext>
            </a:extLst>
          </p:cNvPr>
          <p:cNvPicPr>
            <a:picLocks noChangeAspect="1"/>
          </p:cNvPicPr>
          <p:nvPr/>
        </p:nvPicPr>
        <p:blipFill>
          <a:blip r:embed="rId3"/>
          <a:stretch>
            <a:fillRect/>
          </a:stretch>
        </p:blipFill>
        <p:spPr>
          <a:xfrm>
            <a:off x="581108" y="1707337"/>
            <a:ext cx="3797134" cy="4523213"/>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13</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075371"/>
          </a:xfrm>
        </p:spPr>
        <p:txBody>
          <a:bodyPr/>
          <a:lstStyle/>
          <a:p>
            <a:r>
              <a:rPr lang="en-US" altLang="en-US" dirty="0"/>
              <a:t>Abstract Classes and Interfaces</a:t>
            </a:r>
            <a:endParaRPr lang="en-US" dirty="0"/>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US" dirty="0"/>
              <a:t>2024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192" y="215371"/>
            <a:ext cx="8215496" cy="1097279"/>
          </a:xfrm>
        </p:spPr>
        <p:txBody>
          <a:bodyPr/>
          <a:lstStyle/>
          <a:p>
            <a:r>
              <a:rPr lang="en-US" dirty="0"/>
              <a:t>Motivations</a:t>
            </a:r>
          </a:p>
        </p:txBody>
      </p:sp>
      <p:sp>
        <p:nvSpPr>
          <p:cNvPr id="3" name="Content Placeholder 2"/>
          <p:cNvSpPr>
            <a:spLocks noGrp="1"/>
          </p:cNvSpPr>
          <p:nvPr>
            <p:ph sz="quarter" idx="13"/>
          </p:nvPr>
        </p:nvSpPr>
        <p:spPr>
          <a:xfrm>
            <a:off x="460192" y="1526920"/>
            <a:ext cx="8232775" cy="3672000"/>
          </a:xfrm>
        </p:spPr>
        <p:txBody>
          <a:bodyPr/>
          <a:lstStyle/>
          <a:p>
            <a:r>
              <a:rPr lang="en-US" dirty="0"/>
              <a:t>You have learned how to write simple programs to create and display G</a:t>
            </a:r>
            <a:r>
              <a:rPr lang="en-US" sz="100" dirty="0"/>
              <a:t> </a:t>
            </a:r>
            <a:r>
              <a:rPr lang="en-US" dirty="0"/>
              <a:t>U</a:t>
            </a:r>
            <a:r>
              <a:rPr lang="en-US" sz="100" dirty="0"/>
              <a:t> </a:t>
            </a:r>
            <a:r>
              <a:rPr lang="en-US" dirty="0"/>
              <a:t>I components. Can you write the code to respond to user actions, such as clicking a button to perform an action?</a:t>
            </a:r>
          </a:p>
          <a:p>
            <a:r>
              <a:rPr lang="en-US" dirty="0"/>
              <a:t>In order to write such code, you have to know about interfaces. An </a:t>
            </a:r>
            <a:r>
              <a:rPr lang="en-US" b="1" dirty="0"/>
              <a:t>interface</a:t>
            </a:r>
            <a:r>
              <a:rPr lang="en-US" dirty="0"/>
              <a:t> is for defining common behavior for classes (including unrelated classes). Before discussing interfaces, we introduce a closely related subject: abstract classes.</a:t>
            </a:r>
          </a:p>
        </p:txBody>
      </p:sp>
    </p:spTree>
    <p:extLst>
      <p:ext uri="{BB962C8B-B14F-4D97-AF65-F5344CB8AC3E}">
        <p14:creationId xmlns:p14="http://schemas.microsoft.com/office/powerpoint/2010/main" val="3452098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525B-CB61-4B07-97DD-33DC461CA51C}"/>
              </a:ext>
            </a:extLst>
          </p:cNvPr>
          <p:cNvSpPr>
            <a:spLocks noGrp="1"/>
          </p:cNvSpPr>
          <p:nvPr>
            <p:ph type="title"/>
          </p:nvPr>
        </p:nvSpPr>
        <p:spPr>
          <a:xfrm>
            <a:off x="455351" y="213876"/>
            <a:ext cx="8192628" cy="1089554"/>
          </a:xfrm>
        </p:spPr>
        <p:txBody>
          <a:bodyPr/>
          <a:lstStyle/>
          <a:p>
            <a:r>
              <a:rPr lang="en-US" dirty="0"/>
              <a:t>Objectives </a:t>
            </a:r>
            <a:r>
              <a:rPr lang="en-US" sz="2000" b="0" dirty="0"/>
              <a:t>(1 of 2)</a:t>
            </a:r>
          </a:p>
        </p:txBody>
      </p:sp>
      <p:sp>
        <p:nvSpPr>
          <p:cNvPr id="3" name="Content Placeholder 2">
            <a:extLst>
              <a:ext uri="{FF2B5EF4-FFF2-40B4-BE49-F238E27FC236}">
                <a16:creationId xmlns:a16="http://schemas.microsoft.com/office/drawing/2014/main" id="{A66AB59E-573F-47BD-864E-8084F6AB518E}"/>
              </a:ext>
            </a:extLst>
          </p:cNvPr>
          <p:cNvSpPr>
            <a:spLocks noGrp="1"/>
          </p:cNvSpPr>
          <p:nvPr>
            <p:ph sz="quarter" idx="13"/>
          </p:nvPr>
        </p:nvSpPr>
        <p:spPr>
          <a:xfrm>
            <a:off x="455351" y="1542075"/>
            <a:ext cx="8192627" cy="3816000"/>
          </a:xfrm>
        </p:spPr>
        <p:txBody>
          <a:bodyPr/>
          <a:lstStyle/>
          <a:p>
            <a:pPr marL="0" lvl="2" indent="0">
              <a:spcBef>
                <a:spcPts val="1500"/>
              </a:spcBef>
              <a:buNone/>
            </a:pPr>
            <a:r>
              <a:rPr lang="en-US" altLang="en-US" sz="1800" b="1" dirty="0">
                <a:solidFill>
                  <a:srgbClr val="007FA3"/>
                </a:solidFill>
              </a:rPr>
              <a:t>13.1</a:t>
            </a:r>
            <a:r>
              <a:rPr lang="en-US" altLang="en-US" sz="1800" dirty="0"/>
              <a:t> To design and use abstract classes (§13.2).</a:t>
            </a:r>
          </a:p>
          <a:p>
            <a:pPr marL="0" lvl="2" indent="0">
              <a:spcBef>
                <a:spcPts val="1500"/>
              </a:spcBef>
              <a:buNone/>
            </a:pPr>
            <a:r>
              <a:rPr lang="en-US" altLang="en-US" sz="1800" b="1" dirty="0">
                <a:solidFill>
                  <a:srgbClr val="007FA3"/>
                </a:solidFill>
              </a:rPr>
              <a:t>13.2 </a:t>
            </a:r>
            <a:r>
              <a:rPr lang="en-US" altLang="en-US" sz="1800" dirty="0"/>
              <a:t>To generalize numeric wrapper classes, </a:t>
            </a:r>
            <a:r>
              <a:rPr lang="en-US" altLang="en-US" sz="1800" b="1" dirty="0">
                <a:latin typeface="Courier New" panose="02070309020205020404" pitchFamily="49" charset="0"/>
                <a:cs typeface="Courier New" panose="02070309020205020404" pitchFamily="49" charset="0"/>
              </a:rPr>
              <a:t>BigInteger</a:t>
            </a:r>
            <a:r>
              <a:rPr lang="en-US" altLang="en-US" sz="1800" dirty="0"/>
              <a:t>, and </a:t>
            </a:r>
            <a:r>
              <a:rPr lang="en-US" altLang="en-US" sz="1800" b="1" dirty="0" err="1">
                <a:latin typeface="Courier New" panose="02070309020205020404" pitchFamily="49" charset="0"/>
                <a:cs typeface="Courier New" panose="02070309020205020404" pitchFamily="49" charset="0"/>
              </a:rPr>
              <a:t>BigDecimal</a:t>
            </a:r>
            <a:r>
              <a:rPr lang="en-US" altLang="en-US" sz="1800" dirty="0"/>
              <a:t> using the abstract </a:t>
            </a:r>
            <a:r>
              <a:rPr lang="en-US" altLang="en-US" sz="1800" b="1" dirty="0">
                <a:latin typeface="Courier New" panose="02070309020205020404" pitchFamily="49" charset="0"/>
                <a:cs typeface="Courier New" panose="02070309020205020404" pitchFamily="49" charset="0"/>
              </a:rPr>
              <a:t>Number</a:t>
            </a:r>
            <a:r>
              <a:rPr lang="en-US" altLang="en-US" sz="1800" dirty="0"/>
              <a:t> class (§13.3).</a:t>
            </a:r>
          </a:p>
          <a:p>
            <a:pPr marL="0" lvl="2" indent="0">
              <a:spcBef>
                <a:spcPts val="1500"/>
              </a:spcBef>
              <a:buNone/>
            </a:pPr>
            <a:r>
              <a:rPr lang="en-US" altLang="en-US" sz="1800" b="1" dirty="0">
                <a:solidFill>
                  <a:srgbClr val="007FA3"/>
                </a:solidFill>
              </a:rPr>
              <a:t>13.3 </a:t>
            </a:r>
            <a:r>
              <a:rPr lang="en-US" altLang="en-US" sz="1800" dirty="0"/>
              <a:t>To process a calendar using the </a:t>
            </a:r>
            <a:r>
              <a:rPr lang="en-US" altLang="en-US" sz="1800" b="1" dirty="0">
                <a:latin typeface="Courier New" panose="02070309020205020404" pitchFamily="49" charset="0"/>
                <a:cs typeface="Courier New" panose="02070309020205020404" pitchFamily="49" charset="0"/>
              </a:rPr>
              <a:t>Calendar</a:t>
            </a:r>
            <a:r>
              <a:rPr lang="en-US" altLang="en-US" sz="1800" dirty="0"/>
              <a:t> and </a:t>
            </a:r>
            <a:r>
              <a:rPr lang="en-US" altLang="en-US" sz="1800" b="1" dirty="0">
                <a:latin typeface="Courier New" panose="02070309020205020404" pitchFamily="49" charset="0"/>
                <a:cs typeface="Courier New" panose="02070309020205020404" pitchFamily="49" charset="0"/>
              </a:rPr>
              <a:t>GregorianCalendar</a:t>
            </a:r>
            <a:r>
              <a:rPr lang="en-US" altLang="en-US" sz="1800" dirty="0">
                <a:latin typeface="Courier New" panose="02070309020205020404" pitchFamily="49" charset="0"/>
                <a:cs typeface="Courier New" panose="02070309020205020404" pitchFamily="49" charset="0"/>
              </a:rPr>
              <a:t> </a:t>
            </a:r>
            <a:r>
              <a:rPr lang="en-US" altLang="en-US" sz="1800" dirty="0"/>
              <a:t>classes (§13.4).</a:t>
            </a:r>
          </a:p>
          <a:p>
            <a:pPr marL="0" lvl="2" indent="0">
              <a:spcBef>
                <a:spcPts val="1500"/>
              </a:spcBef>
              <a:buNone/>
            </a:pPr>
            <a:r>
              <a:rPr lang="en-US" altLang="en-US" sz="1800" b="1" dirty="0">
                <a:solidFill>
                  <a:srgbClr val="007FA3"/>
                </a:solidFill>
              </a:rPr>
              <a:t>13.4 </a:t>
            </a:r>
            <a:r>
              <a:rPr lang="en-US" altLang="en-US" sz="1800" dirty="0"/>
              <a:t>To specify common behavior for objects using interfaces (§13.5).</a:t>
            </a:r>
          </a:p>
          <a:p>
            <a:pPr marL="0" lvl="2" indent="0">
              <a:spcBef>
                <a:spcPts val="1500"/>
              </a:spcBef>
              <a:buNone/>
            </a:pPr>
            <a:r>
              <a:rPr lang="en-US" altLang="en-US" sz="1800" b="1" dirty="0">
                <a:solidFill>
                  <a:srgbClr val="007FA3"/>
                </a:solidFill>
              </a:rPr>
              <a:t>13.5 </a:t>
            </a:r>
            <a:r>
              <a:rPr lang="en-US" altLang="en-US" sz="1800" dirty="0"/>
              <a:t>To define interfaces and define classes that implement interfaces (§13.5).</a:t>
            </a:r>
          </a:p>
          <a:p>
            <a:pPr marL="0" lvl="2" indent="0">
              <a:spcBef>
                <a:spcPts val="1500"/>
              </a:spcBef>
              <a:buNone/>
            </a:pPr>
            <a:r>
              <a:rPr lang="en-US" altLang="en-US" sz="1800" b="1" dirty="0">
                <a:solidFill>
                  <a:srgbClr val="007FA3"/>
                </a:solidFill>
              </a:rPr>
              <a:t>13.6 </a:t>
            </a:r>
            <a:r>
              <a:rPr lang="en-US" altLang="en-US" sz="1800" dirty="0"/>
              <a:t>To define a natural order using the </a:t>
            </a:r>
            <a:r>
              <a:rPr lang="en-US" altLang="en-US" sz="1800" b="1" dirty="0">
                <a:latin typeface="Courier New" panose="02070309020205020404" pitchFamily="49" charset="0"/>
                <a:cs typeface="Courier New" panose="02070309020205020404" pitchFamily="49" charset="0"/>
              </a:rPr>
              <a:t>Comparable</a:t>
            </a:r>
            <a:r>
              <a:rPr lang="en-US" altLang="en-US" sz="1800" dirty="0"/>
              <a:t> interface (§13.6).</a:t>
            </a:r>
          </a:p>
          <a:p>
            <a:pPr marL="0" lvl="2" indent="0">
              <a:spcBef>
                <a:spcPts val="1500"/>
              </a:spcBef>
              <a:buNone/>
            </a:pPr>
            <a:r>
              <a:rPr lang="en-US" altLang="en-US" sz="1800" b="1" dirty="0">
                <a:solidFill>
                  <a:srgbClr val="007FA3"/>
                </a:solidFill>
              </a:rPr>
              <a:t>13.7 </a:t>
            </a:r>
            <a:r>
              <a:rPr lang="en-US" altLang="en-US" sz="1800" dirty="0"/>
              <a:t>To make objects </a:t>
            </a:r>
            <a:r>
              <a:rPr lang="en-US" altLang="en-US" sz="1800" dirty="0" err="1"/>
              <a:t>cloneable</a:t>
            </a:r>
            <a:r>
              <a:rPr lang="en-US" altLang="en-US" sz="1800" dirty="0"/>
              <a:t> using the </a:t>
            </a:r>
            <a:r>
              <a:rPr lang="en-US" altLang="en-US" sz="1800" b="1" dirty="0" err="1">
                <a:latin typeface="Courier New" panose="02070309020205020404" pitchFamily="49" charset="0"/>
                <a:cs typeface="Courier New" panose="02070309020205020404" pitchFamily="49" charset="0"/>
              </a:rPr>
              <a:t>Cloneable</a:t>
            </a:r>
            <a:r>
              <a:rPr lang="en-US" altLang="en-US" sz="1800" dirty="0"/>
              <a:t> interface (§13.7).</a:t>
            </a:r>
          </a:p>
        </p:txBody>
      </p:sp>
    </p:spTree>
    <p:extLst>
      <p:ext uri="{BB962C8B-B14F-4D97-AF65-F5344CB8AC3E}">
        <p14:creationId xmlns:p14="http://schemas.microsoft.com/office/powerpoint/2010/main" val="2166374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525B-CB61-4B07-97DD-33DC461CA51C}"/>
              </a:ext>
            </a:extLst>
          </p:cNvPr>
          <p:cNvSpPr>
            <a:spLocks noGrp="1"/>
          </p:cNvSpPr>
          <p:nvPr>
            <p:ph type="title"/>
          </p:nvPr>
        </p:nvSpPr>
        <p:spPr>
          <a:xfrm>
            <a:off x="458986" y="216866"/>
            <a:ext cx="8188992" cy="1088059"/>
          </a:xfrm>
        </p:spPr>
        <p:txBody>
          <a:bodyPr/>
          <a:lstStyle/>
          <a:p>
            <a:r>
              <a:rPr lang="en-US" dirty="0"/>
              <a:t>Objectives </a:t>
            </a:r>
            <a:r>
              <a:rPr lang="en-US" sz="2000" b="0" dirty="0"/>
              <a:t>(2 of 2)</a:t>
            </a:r>
          </a:p>
        </p:txBody>
      </p:sp>
      <p:sp>
        <p:nvSpPr>
          <p:cNvPr id="3" name="Content Placeholder 2">
            <a:extLst>
              <a:ext uri="{FF2B5EF4-FFF2-40B4-BE49-F238E27FC236}">
                <a16:creationId xmlns:a16="http://schemas.microsoft.com/office/drawing/2014/main" id="{A66AB59E-573F-47BD-864E-8084F6AB518E}"/>
              </a:ext>
            </a:extLst>
          </p:cNvPr>
          <p:cNvSpPr>
            <a:spLocks noGrp="1"/>
          </p:cNvSpPr>
          <p:nvPr>
            <p:ph sz="quarter" idx="13"/>
          </p:nvPr>
        </p:nvSpPr>
        <p:spPr>
          <a:xfrm>
            <a:off x="458986" y="1528822"/>
            <a:ext cx="8188992" cy="2952000"/>
          </a:xfrm>
        </p:spPr>
        <p:txBody>
          <a:bodyPr/>
          <a:lstStyle/>
          <a:p>
            <a:pPr marL="0" lvl="2" indent="0">
              <a:spcBef>
                <a:spcPts val="1500"/>
              </a:spcBef>
              <a:buNone/>
            </a:pPr>
            <a:r>
              <a:rPr lang="en-US" altLang="en-US" sz="2000" b="1" dirty="0">
                <a:solidFill>
                  <a:srgbClr val="007FA3"/>
                </a:solidFill>
              </a:rPr>
              <a:t>13.8 </a:t>
            </a:r>
            <a:r>
              <a:rPr lang="en-US" altLang="en-US" sz="2000" dirty="0"/>
              <a:t>To explore the similarities and differences among concrete classes, abstract classes, and interfaces (§13.8).</a:t>
            </a:r>
          </a:p>
          <a:p>
            <a:pPr marL="0" lvl="2" indent="0">
              <a:spcBef>
                <a:spcPts val="1500"/>
              </a:spcBef>
              <a:buNone/>
            </a:pPr>
            <a:r>
              <a:rPr lang="en-US" altLang="en-US" sz="2000" b="1" dirty="0">
                <a:solidFill>
                  <a:srgbClr val="007FA3"/>
                </a:solidFill>
              </a:rPr>
              <a:t>13.9 </a:t>
            </a:r>
            <a:r>
              <a:rPr lang="en-US" altLang="en-US" sz="2000" dirty="0"/>
              <a:t>To design the </a:t>
            </a:r>
            <a:r>
              <a:rPr lang="en-US" altLang="en-US" sz="2000" b="1" dirty="0">
                <a:latin typeface="Courier New" panose="02070309020205020404" pitchFamily="49" charset="0"/>
                <a:cs typeface="Courier New" panose="02070309020205020404" pitchFamily="49" charset="0"/>
              </a:rPr>
              <a:t>Rational</a:t>
            </a:r>
            <a:r>
              <a:rPr lang="en-US" altLang="en-US" sz="2000" dirty="0"/>
              <a:t> class for processing rational numbers (§13.9).</a:t>
            </a:r>
          </a:p>
          <a:p>
            <a:pPr marL="0" lvl="2" indent="0">
              <a:spcBef>
                <a:spcPts val="1500"/>
              </a:spcBef>
              <a:buNone/>
            </a:pPr>
            <a:r>
              <a:rPr lang="en-US" altLang="en-US" sz="2000" b="1" dirty="0">
                <a:solidFill>
                  <a:srgbClr val="007FA3"/>
                </a:solidFill>
              </a:rPr>
              <a:t>13.10 </a:t>
            </a:r>
            <a:r>
              <a:rPr lang="en-US" altLang="en-US" sz="2000" dirty="0"/>
              <a:t>To design classes that follow the class-design guidelines (§13.10).</a:t>
            </a:r>
          </a:p>
          <a:p>
            <a:pPr marL="0" lvl="2" indent="0">
              <a:spcBef>
                <a:spcPts val="1500"/>
              </a:spcBef>
              <a:buNone/>
            </a:pPr>
            <a:r>
              <a:rPr lang="en-US" altLang="en-US" sz="2000" b="1" dirty="0">
                <a:solidFill>
                  <a:srgbClr val="007FA3"/>
                </a:solidFill>
              </a:rPr>
              <a:t>13.11 </a:t>
            </a:r>
            <a:r>
              <a:rPr lang="en-US" sz="2000" dirty="0"/>
              <a:t>To use a simple one-line code to define a record (§13.11).</a:t>
            </a:r>
          </a:p>
        </p:txBody>
      </p:sp>
    </p:spTree>
    <p:extLst>
      <p:ext uri="{BB962C8B-B14F-4D97-AF65-F5344CB8AC3E}">
        <p14:creationId xmlns:p14="http://schemas.microsoft.com/office/powerpoint/2010/main" val="620565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673384-5D4C-4D03-94F6-FE1EDC08F631}"/>
              </a:ext>
            </a:extLst>
          </p:cNvPr>
          <p:cNvSpPr>
            <a:spLocks noGrp="1"/>
          </p:cNvSpPr>
          <p:nvPr>
            <p:ph type="title"/>
          </p:nvPr>
        </p:nvSpPr>
        <p:spPr>
          <a:xfrm>
            <a:off x="457200" y="215371"/>
            <a:ext cx="8218488" cy="1097279"/>
          </a:xfrm>
        </p:spPr>
        <p:txBody>
          <a:bodyPr/>
          <a:lstStyle/>
          <a:p>
            <a:r>
              <a:rPr lang="en-US" sz="3200"/>
              <a:t>Abstract Classes and Abstract Methods</a:t>
            </a:r>
          </a:p>
        </p:txBody>
      </p:sp>
      <p:pic>
        <p:nvPicPr>
          <p:cNvPr id="6" name="Picture 5" descr="The computer code shows the Abstract Classes and Abstract Methods. For long description in Notes pane, press F6.">
            <a:extLst>
              <a:ext uri="{FF2B5EF4-FFF2-40B4-BE49-F238E27FC236}">
                <a16:creationId xmlns:a16="http://schemas.microsoft.com/office/drawing/2014/main" id="{562B77DE-9A19-49DD-9066-086A6DA132D5}"/>
              </a:ext>
            </a:extLst>
          </p:cNvPr>
          <p:cNvPicPr>
            <a:picLocks noChangeAspect="1"/>
          </p:cNvPicPr>
          <p:nvPr/>
        </p:nvPicPr>
        <p:blipFill>
          <a:blip r:embed="rId3"/>
          <a:stretch>
            <a:fillRect/>
          </a:stretch>
        </p:blipFill>
        <p:spPr>
          <a:xfrm>
            <a:off x="512768" y="1726682"/>
            <a:ext cx="5255998" cy="4040739"/>
          </a:xfrm>
          <a:prstGeom prst="rect">
            <a:avLst/>
          </a:prstGeom>
        </p:spPr>
      </p:pic>
      <p:sp>
        <p:nvSpPr>
          <p:cNvPr id="12" name="Text Placeholder 11">
            <a:extLst>
              <a:ext uri="{FF2B5EF4-FFF2-40B4-BE49-F238E27FC236}">
                <a16:creationId xmlns:a16="http://schemas.microsoft.com/office/drawing/2014/main" id="{A1617C68-5F9B-4EA9-A616-F346EBE01A69}"/>
              </a:ext>
            </a:extLst>
          </p:cNvPr>
          <p:cNvSpPr>
            <a:spLocks noGrp="1"/>
          </p:cNvSpPr>
          <p:nvPr>
            <p:ph type="body" sz="quarter" idx="20"/>
          </p:nvPr>
        </p:nvSpPr>
        <p:spPr>
          <a:xfrm>
            <a:off x="5884607" y="1715746"/>
            <a:ext cx="2492477" cy="422770"/>
          </a:xfrm>
        </p:spPr>
        <p:txBody>
          <a:bodyPr/>
          <a:lstStyle/>
          <a:p>
            <a:pPr marL="432" indent="0">
              <a:buNone/>
            </a:pPr>
            <a:r>
              <a:rPr lang="en-US" altLang="en-US" sz="2000" dirty="0">
                <a:hlinkClick r:id="rId4" tooltip="https://liveexample.pearsoncmg.com/html/GeometricObject.html"/>
              </a:rPr>
              <a:t>GeometricObject</a:t>
            </a:r>
          </a:p>
        </p:txBody>
      </p:sp>
      <p:sp>
        <p:nvSpPr>
          <p:cNvPr id="13" name="Text Placeholder 12">
            <a:extLst>
              <a:ext uri="{FF2B5EF4-FFF2-40B4-BE49-F238E27FC236}">
                <a16:creationId xmlns:a16="http://schemas.microsoft.com/office/drawing/2014/main" id="{341E259D-9BB4-49DF-820A-EA4FB154C213}"/>
              </a:ext>
            </a:extLst>
          </p:cNvPr>
          <p:cNvSpPr>
            <a:spLocks noGrp="1"/>
          </p:cNvSpPr>
          <p:nvPr>
            <p:ph type="body" sz="quarter" idx="21"/>
          </p:nvPr>
        </p:nvSpPr>
        <p:spPr>
          <a:xfrm>
            <a:off x="5895720" y="2250356"/>
            <a:ext cx="1080367" cy="472987"/>
          </a:xfrm>
        </p:spPr>
        <p:txBody>
          <a:bodyPr/>
          <a:lstStyle/>
          <a:p>
            <a:pPr marL="432" indent="0">
              <a:buNone/>
            </a:pPr>
            <a:r>
              <a:rPr lang="en-US" altLang="en-US" sz="2000">
                <a:hlinkClick r:id="rId5" tooltip="https://liveexample.pearsoncmg.com/html/Circle.html"/>
              </a:rPr>
              <a:t>Circle</a:t>
            </a:r>
          </a:p>
        </p:txBody>
      </p:sp>
      <p:sp>
        <p:nvSpPr>
          <p:cNvPr id="14" name="Text Placeholder 13">
            <a:extLst>
              <a:ext uri="{FF2B5EF4-FFF2-40B4-BE49-F238E27FC236}">
                <a16:creationId xmlns:a16="http://schemas.microsoft.com/office/drawing/2014/main" id="{5C41EA98-E6A6-440C-B403-DD6FB811248E}"/>
              </a:ext>
            </a:extLst>
          </p:cNvPr>
          <p:cNvSpPr>
            <a:spLocks noGrp="1"/>
          </p:cNvSpPr>
          <p:nvPr>
            <p:ph type="body" sz="quarter" idx="22"/>
          </p:nvPr>
        </p:nvSpPr>
        <p:spPr>
          <a:xfrm>
            <a:off x="5884607" y="2818509"/>
            <a:ext cx="1622323" cy="447439"/>
          </a:xfrm>
        </p:spPr>
        <p:txBody>
          <a:bodyPr/>
          <a:lstStyle/>
          <a:p>
            <a:pPr marL="432" indent="0">
              <a:buNone/>
            </a:pPr>
            <a:r>
              <a:rPr lang="en-US" altLang="en-US" sz="2000">
                <a:hlinkClick r:id="rId6" tooltip="https://liveexample.pearsoncmg.com/html/Rectangle.html"/>
              </a:rPr>
              <a:t>Rectangle</a:t>
            </a:r>
          </a:p>
        </p:txBody>
      </p:sp>
      <p:sp>
        <p:nvSpPr>
          <p:cNvPr id="15" name="Text Placeholder 14">
            <a:extLst>
              <a:ext uri="{FF2B5EF4-FFF2-40B4-BE49-F238E27FC236}">
                <a16:creationId xmlns:a16="http://schemas.microsoft.com/office/drawing/2014/main" id="{5E4BAA62-A56A-4BB3-8B01-4BF44D51B5D7}"/>
              </a:ext>
            </a:extLst>
          </p:cNvPr>
          <p:cNvSpPr>
            <a:spLocks noGrp="1"/>
          </p:cNvSpPr>
          <p:nvPr>
            <p:ph type="body" sz="quarter" idx="23"/>
          </p:nvPr>
        </p:nvSpPr>
        <p:spPr>
          <a:xfrm>
            <a:off x="5884607" y="3339272"/>
            <a:ext cx="2791081" cy="497393"/>
          </a:xfrm>
        </p:spPr>
        <p:txBody>
          <a:bodyPr/>
          <a:lstStyle/>
          <a:p>
            <a:pPr marL="432" indent="0">
              <a:buNone/>
            </a:pPr>
            <a:r>
              <a:rPr lang="en-US" sz="2000">
                <a:hlinkClick r:id="rId7" tooltip="https://liveexample.pearsoncmg.com/html/TestGeometricObject.html"/>
              </a:rPr>
              <a:t>TestGeometricObject</a:t>
            </a:r>
          </a:p>
        </p:txBody>
      </p:sp>
    </p:spTree>
    <p:extLst>
      <p:ext uri="{BB962C8B-B14F-4D97-AF65-F5344CB8AC3E}">
        <p14:creationId xmlns:p14="http://schemas.microsoft.com/office/powerpoint/2010/main" val="4133536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87D4F-6195-46D3-AE61-ACD2A5713E33}"/>
              </a:ext>
            </a:extLst>
          </p:cNvPr>
          <p:cNvSpPr>
            <a:spLocks noGrp="1"/>
          </p:cNvSpPr>
          <p:nvPr>
            <p:ph type="title"/>
          </p:nvPr>
        </p:nvSpPr>
        <p:spPr>
          <a:xfrm>
            <a:off x="457200" y="202119"/>
            <a:ext cx="8218488" cy="1097279"/>
          </a:xfrm>
        </p:spPr>
        <p:txBody>
          <a:bodyPr/>
          <a:lstStyle/>
          <a:p>
            <a:r>
              <a:rPr lang="en-US" dirty="0"/>
              <a:t>Abstract Method in Abstract Class</a:t>
            </a:r>
          </a:p>
        </p:txBody>
      </p:sp>
      <p:sp>
        <p:nvSpPr>
          <p:cNvPr id="3" name="Content Placeholder 2">
            <a:extLst>
              <a:ext uri="{FF2B5EF4-FFF2-40B4-BE49-F238E27FC236}">
                <a16:creationId xmlns:a16="http://schemas.microsoft.com/office/drawing/2014/main" id="{B9908849-F9FB-44EF-85A4-1FE96AADD211}"/>
              </a:ext>
            </a:extLst>
          </p:cNvPr>
          <p:cNvSpPr>
            <a:spLocks noGrp="1"/>
          </p:cNvSpPr>
          <p:nvPr>
            <p:ph sz="quarter" idx="13"/>
          </p:nvPr>
        </p:nvSpPr>
        <p:spPr>
          <a:xfrm>
            <a:off x="457200" y="1541668"/>
            <a:ext cx="8232775" cy="2736000"/>
          </a:xfrm>
        </p:spPr>
        <p:txBody>
          <a:bodyPr/>
          <a:lstStyle/>
          <a:p>
            <a:r>
              <a:rPr lang="en-US" dirty="0"/>
              <a:t>An abstract method cannot be contained in a nonabstract class. </a:t>
            </a:r>
          </a:p>
          <a:p>
            <a:r>
              <a:rPr lang="en-US" dirty="0"/>
              <a:t>If a subclass of an abstract superclass does not implement all the abstract methods, the subclass must be defined abstract. </a:t>
            </a:r>
          </a:p>
          <a:p>
            <a:r>
              <a:rPr lang="en-US" dirty="0"/>
              <a:t>In other words, in a nonabstract subclass extended from an abstract class, all the abstract methods must be implemented, even if they are not used in the subclass.</a:t>
            </a:r>
          </a:p>
        </p:txBody>
      </p:sp>
    </p:spTree>
    <p:extLst>
      <p:ext uri="{BB962C8B-B14F-4D97-AF65-F5344CB8AC3E}">
        <p14:creationId xmlns:p14="http://schemas.microsoft.com/office/powerpoint/2010/main" val="3888984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B483E-F6C7-492B-999F-A8780BD1FF13}"/>
              </a:ext>
            </a:extLst>
          </p:cNvPr>
          <p:cNvSpPr>
            <a:spLocks noGrp="1"/>
          </p:cNvSpPr>
          <p:nvPr>
            <p:ph type="title"/>
          </p:nvPr>
        </p:nvSpPr>
        <p:spPr>
          <a:xfrm>
            <a:off x="457200" y="215371"/>
            <a:ext cx="8218488" cy="1097279"/>
          </a:xfrm>
        </p:spPr>
        <p:txBody>
          <a:bodyPr/>
          <a:lstStyle/>
          <a:p>
            <a:r>
              <a:rPr lang="en-US" sz="3200" dirty="0"/>
              <a:t>Object Cannot Be Created From Abstract Class</a:t>
            </a:r>
          </a:p>
        </p:txBody>
      </p:sp>
      <p:sp>
        <p:nvSpPr>
          <p:cNvPr id="3" name="Content Placeholder 2">
            <a:extLst>
              <a:ext uri="{FF2B5EF4-FFF2-40B4-BE49-F238E27FC236}">
                <a16:creationId xmlns:a16="http://schemas.microsoft.com/office/drawing/2014/main" id="{47400CFC-9A5C-4B55-9145-0DD45F7BA401}"/>
              </a:ext>
            </a:extLst>
          </p:cNvPr>
          <p:cNvSpPr>
            <a:spLocks noGrp="1"/>
          </p:cNvSpPr>
          <p:nvPr>
            <p:ph sz="quarter" idx="13"/>
          </p:nvPr>
        </p:nvSpPr>
        <p:spPr>
          <a:xfrm>
            <a:off x="457200" y="1541668"/>
            <a:ext cx="8232775" cy="2016000"/>
          </a:xfrm>
        </p:spPr>
        <p:txBody>
          <a:bodyPr/>
          <a:lstStyle/>
          <a:p>
            <a:pPr marL="432" indent="0">
              <a:buNone/>
            </a:pPr>
            <a:r>
              <a:rPr lang="en-US" altLang="en-US" dirty="0">
                <a:cs typeface="Times New Roman" panose="02020603050405020304" pitchFamily="18" charset="0"/>
              </a:rPr>
              <a:t>An abstract class cannot be instantiated using the new operator, but you can still define its constructors, which are invoked in the constructors of its subclasses. </a:t>
            </a:r>
          </a:p>
          <a:p>
            <a:pPr marL="432" indent="0">
              <a:buNone/>
            </a:pPr>
            <a:r>
              <a:rPr lang="en-US" altLang="en-US" dirty="0">
                <a:cs typeface="Times New Roman" panose="02020603050405020304" pitchFamily="18" charset="0"/>
              </a:rPr>
              <a:t>For instance, the constructors of </a:t>
            </a:r>
            <a:r>
              <a:rPr lang="en-US" altLang="en-US" dirty="0">
                <a:latin typeface="Courier New" panose="02070309020205020404" pitchFamily="49" charset="0"/>
                <a:cs typeface="Courier New" panose="02070309020205020404" pitchFamily="49" charset="0"/>
              </a:rPr>
              <a:t>GeometricObject</a:t>
            </a:r>
            <a:r>
              <a:rPr lang="en-US" altLang="en-US" dirty="0">
                <a:cs typeface="Times New Roman" panose="02020603050405020304" pitchFamily="18" charset="0"/>
              </a:rPr>
              <a:t> are invoked in the Circle class and the Rectangle class.</a:t>
            </a:r>
          </a:p>
        </p:txBody>
      </p:sp>
    </p:spTree>
    <p:extLst>
      <p:ext uri="{BB962C8B-B14F-4D97-AF65-F5344CB8AC3E}">
        <p14:creationId xmlns:p14="http://schemas.microsoft.com/office/powerpoint/2010/main" val="3584819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6A3D2-EFF0-4475-BE40-1D5D9ECC670B}"/>
              </a:ext>
            </a:extLst>
          </p:cNvPr>
          <p:cNvSpPr>
            <a:spLocks noGrp="1"/>
          </p:cNvSpPr>
          <p:nvPr>
            <p:ph type="title"/>
          </p:nvPr>
        </p:nvSpPr>
        <p:spPr>
          <a:xfrm>
            <a:off x="457200" y="215371"/>
            <a:ext cx="8229600" cy="1097279"/>
          </a:xfrm>
        </p:spPr>
        <p:txBody>
          <a:bodyPr/>
          <a:lstStyle/>
          <a:p>
            <a:r>
              <a:rPr lang="en-US" sz="3200" dirty="0"/>
              <a:t>Abstract Class Without Abstract Method</a:t>
            </a:r>
          </a:p>
        </p:txBody>
      </p:sp>
      <p:sp>
        <p:nvSpPr>
          <p:cNvPr id="3" name="Content Placeholder 2">
            <a:extLst>
              <a:ext uri="{FF2B5EF4-FFF2-40B4-BE49-F238E27FC236}">
                <a16:creationId xmlns:a16="http://schemas.microsoft.com/office/drawing/2014/main" id="{055911AD-97D4-4FC8-BF49-83E0B3E32D60}"/>
              </a:ext>
            </a:extLst>
          </p:cNvPr>
          <p:cNvSpPr>
            <a:spLocks noGrp="1"/>
          </p:cNvSpPr>
          <p:nvPr>
            <p:ph sz="quarter" idx="13"/>
          </p:nvPr>
        </p:nvSpPr>
        <p:spPr>
          <a:xfrm>
            <a:off x="457200" y="1554920"/>
            <a:ext cx="8232775" cy="2016000"/>
          </a:xfrm>
        </p:spPr>
        <p:txBody>
          <a:bodyPr/>
          <a:lstStyle/>
          <a:p>
            <a:pPr marL="432" indent="0">
              <a:buNone/>
            </a:pPr>
            <a:r>
              <a:rPr lang="en-US" altLang="en-US">
                <a:cs typeface="Times New Roman" panose="02020603050405020304" pitchFamily="18" charset="0"/>
              </a:rPr>
              <a:t>A class that contains abstract methods must be abstract. However, it is possible to define an abstract class that contains no abstract methods. In this case, you cannot create instances of the class using the new operator. This class is used as a base class for defining a new subclass.</a:t>
            </a:r>
          </a:p>
        </p:txBody>
      </p:sp>
    </p:spTree>
    <p:extLst>
      <p:ext uri="{BB962C8B-B14F-4D97-AF65-F5344CB8AC3E}">
        <p14:creationId xmlns:p14="http://schemas.microsoft.com/office/powerpoint/2010/main" val="1831530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E6E61-9E26-4A24-A0E9-D094246260F8}"/>
              </a:ext>
            </a:extLst>
          </p:cNvPr>
          <p:cNvSpPr>
            <a:spLocks noGrp="1"/>
          </p:cNvSpPr>
          <p:nvPr>
            <p:ph type="title"/>
          </p:nvPr>
        </p:nvSpPr>
        <p:spPr>
          <a:xfrm>
            <a:off x="457200" y="215371"/>
            <a:ext cx="8229600" cy="1097279"/>
          </a:xfrm>
        </p:spPr>
        <p:txBody>
          <a:bodyPr/>
          <a:lstStyle/>
          <a:p>
            <a:r>
              <a:rPr lang="en-US" sz="3200" dirty="0"/>
              <a:t>Superclass of Abstract Class May Be Concrete</a:t>
            </a:r>
          </a:p>
        </p:txBody>
      </p:sp>
      <p:sp>
        <p:nvSpPr>
          <p:cNvPr id="3" name="Content Placeholder 2">
            <a:extLst>
              <a:ext uri="{FF2B5EF4-FFF2-40B4-BE49-F238E27FC236}">
                <a16:creationId xmlns:a16="http://schemas.microsoft.com/office/drawing/2014/main" id="{2F47CF90-B2B9-4AF9-9BD6-A5683106810D}"/>
              </a:ext>
            </a:extLst>
          </p:cNvPr>
          <p:cNvSpPr>
            <a:spLocks noGrp="1"/>
          </p:cNvSpPr>
          <p:nvPr>
            <p:ph sz="quarter" idx="13"/>
          </p:nvPr>
        </p:nvSpPr>
        <p:spPr>
          <a:xfrm>
            <a:off x="457200" y="1554920"/>
            <a:ext cx="8232775" cy="1731619"/>
          </a:xfrm>
        </p:spPr>
        <p:txBody>
          <a:bodyPr/>
          <a:lstStyle/>
          <a:p>
            <a:pPr marL="432" indent="0">
              <a:buNone/>
            </a:pPr>
            <a:r>
              <a:rPr lang="en-US" altLang="en-US" dirty="0">
                <a:cs typeface="Times New Roman" panose="02020603050405020304" pitchFamily="18" charset="0"/>
              </a:rPr>
              <a:t>A subclass can be abstract even if its superclass is concrete. </a:t>
            </a:r>
          </a:p>
          <a:p>
            <a:pPr marL="432" indent="0">
              <a:buNone/>
            </a:pPr>
            <a:r>
              <a:rPr lang="en-US" altLang="en-US" dirty="0">
                <a:cs typeface="Times New Roman" panose="02020603050405020304" pitchFamily="18" charset="0"/>
              </a:rPr>
              <a:t>For example, the Object class is concrete, but its subclasses, such as </a:t>
            </a:r>
            <a:r>
              <a:rPr lang="en-US" altLang="en-US" dirty="0" err="1">
                <a:latin typeface="Courier New" panose="02070309020205020404" pitchFamily="49" charset="0"/>
                <a:cs typeface="Courier New" panose="02070309020205020404" pitchFamily="49" charset="0"/>
              </a:rPr>
              <a:t>GeometricObject,</a:t>
            </a:r>
            <a:r>
              <a:rPr lang="en-US" altLang="en-US" dirty="0" err="1">
                <a:cs typeface="Times New Roman" panose="02020603050405020304" pitchFamily="18" charset="0"/>
              </a:rPr>
              <a:t>may</a:t>
            </a:r>
            <a:r>
              <a:rPr lang="en-US" altLang="en-US" dirty="0">
                <a:cs typeface="Times New Roman" panose="02020603050405020304" pitchFamily="18" charset="0"/>
              </a:rPr>
              <a:t> be abstract.</a:t>
            </a:r>
          </a:p>
        </p:txBody>
      </p:sp>
    </p:spTree>
    <p:extLst>
      <p:ext uri="{BB962C8B-B14F-4D97-AF65-F5344CB8AC3E}">
        <p14:creationId xmlns:p14="http://schemas.microsoft.com/office/powerpoint/2010/main" val="404616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754DC-529E-4D6A-B67C-1516DCEEBBEB}"/>
              </a:ext>
            </a:extLst>
          </p:cNvPr>
          <p:cNvSpPr>
            <a:spLocks noGrp="1"/>
          </p:cNvSpPr>
          <p:nvPr>
            <p:ph type="title"/>
          </p:nvPr>
        </p:nvSpPr>
        <p:spPr>
          <a:xfrm>
            <a:off x="457200" y="215371"/>
            <a:ext cx="8229600" cy="1097279"/>
          </a:xfrm>
        </p:spPr>
        <p:txBody>
          <a:bodyPr/>
          <a:lstStyle/>
          <a:p>
            <a:r>
              <a:rPr lang="en-US" sz="3200" dirty="0"/>
              <a:t>Concrete Method Overridden to Be Abstract</a:t>
            </a:r>
          </a:p>
        </p:txBody>
      </p:sp>
      <p:sp>
        <p:nvSpPr>
          <p:cNvPr id="3" name="Content Placeholder 2">
            <a:extLst>
              <a:ext uri="{FF2B5EF4-FFF2-40B4-BE49-F238E27FC236}">
                <a16:creationId xmlns:a16="http://schemas.microsoft.com/office/drawing/2014/main" id="{B3E69BD5-A036-46DF-94A9-1B835AC6C909}"/>
              </a:ext>
            </a:extLst>
          </p:cNvPr>
          <p:cNvSpPr>
            <a:spLocks noGrp="1"/>
          </p:cNvSpPr>
          <p:nvPr>
            <p:ph sz="quarter" idx="13"/>
          </p:nvPr>
        </p:nvSpPr>
        <p:spPr>
          <a:xfrm>
            <a:off x="457200" y="1554921"/>
            <a:ext cx="8232775" cy="2016000"/>
          </a:xfrm>
        </p:spPr>
        <p:txBody>
          <a:bodyPr/>
          <a:lstStyle/>
          <a:p>
            <a:pPr marL="432" indent="0">
              <a:buNone/>
            </a:pPr>
            <a:r>
              <a:rPr lang="en-US" altLang="en-US">
                <a:cs typeface="Times New Roman" panose="02020603050405020304" pitchFamily="18" charset="0"/>
              </a:rPr>
              <a:t>A subclass can override a method from its superclass to define it abstract. This is rare, but useful when the implementation of the method in the superclass becomes invalid in the subclass. In this case, the subclass must be defined abstract.</a:t>
            </a:r>
          </a:p>
        </p:txBody>
      </p:sp>
    </p:spTree>
    <p:extLst>
      <p:ext uri="{BB962C8B-B14F-4D97-AF65-F5344CB8AC3E}">
        <p14:creationId xmlns:p14="http://schemas.microsoft.com/office/powerpoint/2010/main" val="2173913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D89CF-F5C6-4A98-9EE7-5BACF82AB02B}"/>
              </a:ext>
            </a:extLst>
          </p:cNvPr>
          <p:cNvSpPr>
            <a:spLocks noGrp="1"/>
          </p:cNvSpPr>
          <p:nvPr>
            <p:ph type="title"/>
          </p:nvPr>
        </p:nvSpPr>
        <p:spPr>
          <a:xfrm>
            <a:off x="457200" y="215371"/>
            <a:ext cx="8218488" cy="1097279"/>
          </a:xfrm>
        </p:spPr>
        <p:txBody>
          <a:bodyPr/>
          <a:lstStyle/>
          <a:p>
            <a:r>
              <a:rPr lang="en-US" dirty="0"/>
              <a:t>Abstract Class as Type</a:t>
            </a:r>
          </a:p>
        </p:txBody>
      </p:sp>
      <p:sp>
        <p:nvSpPr>
          <p:cNvPr id="3" name="Content Placeholder 2">
            <a:extLst>
              <a:ext uri="{FF2B5EF4-FFF2-40B4-BE49-F238E27FC236}">
                <a16:creationId xmlns:a16="http://schemas.microsoft.com/office/drawing/2014/main" id="{5F689EEB-4248-4A20-9030-05893D3AC381}"/>
              </a:ext>
            </a:extLst>
          </p:cNvPr>
          <p:cNvSpPr>
            <a:spLocks noGrp="1"/>
          </p:cNvSpPr>
          <p:nvPr>
            <p:ph sz="quarter" idx="13"/>
          </p:nvPr>
        </p:nvSpPr>
        <p:spPr>
          <a:xfrm>
            <a:off x="457200" y="1543075"/>
            <a:ext cx="8218488" cy="1438663"/>
          </a:xfrm>
        </p:spPr>
        <p:txBody>
          <a:bodyPr/>
          <a:lstStyle/>
          <a:p>
            <a:pPr marL="432" indent="0">
              <a:buNone/>
            </a:pPr>
            <a:r>
              <a:rPr lang="en-US" altLang="en-US" sz="2000" dirty="0">
                <a:cs typeface="Times New Roman" panose="02020603050405020304" pitchFamily="18" charset="0"/>
              </a:rPr>
              <a:t>You cannot create an instance from an abstract class using the new operator, but an abstract class can be used as a data type. Therefore, the following statement, which creates an array whose elements are of </a:t>
            </a:r>
            <a:r>
              <a:rPr lang="en-US" altLang="en-US" sz="2000" dirty="0">
                <a:latin typeface="Courier New" panose="02070309020205020404" pitchFamily="49" charset="0"/>
                <a:cs typeface="Courier New" panose="02070309020205020404" pitchFamily="49" charset="0"/>
              </a:rPr>
              <a:t>GeometricObject</a:t>
            </a:r>
            <a:r>
              <a:rPr lang="en-US" altLang="en-US" sz="2000" dirty="0">
                <a:cs typeface="Times New Roman" panose="02020603050405020304" pitchFamily="18" charset="0"/>
              </a:rPr>
              <a:t> type, is correct.</a:t>
            </a:r>
          </a:p>
        </p:txBody>
      </p:sp>
      <p:sp>
        <p:nvSpPr>
          <p:cNvPr id="4" name="Content Placeholder 3">
            <a:extLst>
              <a:ext uri="{FF2B5EF4-FFF2-40B4-BE49-F238E27FC236}">
                <a16:creationId xmlns:a16="http://schemas.microsoft.com/office/drawing/2014/main" id="{701EF777-87EF-4051-A0DC-034DEBA37EC1}"/>
              </a:ext>
            </a:extLst>
          </p:cNvPr>
          <p:cNvSpPr>
            <a:spLocks noGrp="1"/>
          </p:cNvSpPr>
          <p:nvPr>
            <p:ph sz="quarter" idx="14"/>
          </p:nvPr>
        </p:nvSpPr>
        <p:spPr>
          <a:xfrm>
            <a:off x="455994" y="3158009"/>
            <a:ext cx="8191984" cy="495977"/>
          </a:xfrm>
        </p:spPr>
        <p:txBody>
          <a:bodyPr/>
          <a:lstStyle/>
          <a:p>
            <a:pPr marL="432" indent="0">
              <a:buNone/>
            </a:pPr>
            <a:r>
              <a:rPr lang="en-US" altLang="en-US" sz="2000" dirty="0">
                <a:latin typeface="Courier New" panose="02070309020205020404" pitchFamily="49" charset="0"/>
                <a:cs typeface="Courier New" panose="02070309020205020404" pitchFamily="49" charset="0"/>
              </a:rPr>
              <a:t>GeometricObject[] geo = new GeometricObject[10];</a:t>
            </a:r>
          </a:p>
        </p:txBody>
      </p:sp>
    </p:spTree>
    <p:extLst>
      <p:ext uri="{BB962C8B-B14F-4D97-AF65-F5344CB8AC3E}">
        <p14:creationId xmlns:p14="http://schemas.microsoft.com/office/powerpoint/2010/main" val="3501787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2">
            <a:extLst>
              <a:ext uri="{FF2B5EF4-FFF2-40B4-BE49-F238E27FC236}">
                <a16:creationId xmlns:a16="http://schemas.microsoft.com/office/drawing/2014/main" id="{3F5FF6C7-A4DC-4CFB-10B7-5AD75CD0B0B6}"/>
              </a:ext>
            </a:extLst>
          </p:cNvPr>
          <p:cNvSpPr>
            <a:spLocks noGrp="1" noChangeArrowheads="1"/>
          </p:cNvSpPr>
          <p:nvPr>
            <p:ph type="title"/>
          </p:nvPr>
        </p:nvSpPr>
        <p:spPr/>
        <p:txBody>
          <a:bodyPr/>
          <a:lstStyle/>
          <a:p>
            <a:r>
              <a:rPr lang="en-US" altLang="en-US" dirty="0">
                <a:latin typeface="+mj-lt"/>
              </a:rPr>
              <a:t>Summary of Abstract class rules:</a:t>
            </a:r>
          </a:p>
        </p:txBody>
      </p:sp>
      <p:sp>
        <p:nvSpPr>
          <p:cNvPr id="18435" name="Content Placeholder 3">
            <a:extLst>
              <a:ext uri="{FF2B5EF4-FFF2-40B4-BE49-F238E27FC236}">
                <a16:creationId xmlns:a16="http://schemas.microsoft.com/office/drawing/2014/main" id="{5717EAA2-1A3F-51D5-649A-2FF3F226B6EC}"/>
              </a:ext>
            </a:extLst>
          </p:cNvPr>
          <p:cNvSpPr>
            <a:spLocks noGrp="1" noChangeArrowheads="1"/>
          </p:cNvSpPr>
          <p:nvPr>
            <p:ph idx="1"/>
          </p:nvPr>
        </p:nvSpPr>
        <p:spPr/>
        <p:txBody>
          <a:bodyPr/>
          <a:lstStyle/>
          <a:p>
            <a:pPr>
              <a:buFont typeface="Wingdings" panose="05000000000000000000" pitchFamily="2" charset="2"/>
              <a:buChar char="§"/>
            </a:pPr>
            <a:r>
              <a:rPr lang="en-US" altLang="en-US" sz="2400" dirty="0">
                <a:latin typeface="Arial" panose="020B0604020202020204" pitchFamily="34" charset="0"/>
                <a:cs typeface="Arial" panose="020B0604020202020204" pitchFamily="34" charset="0"/>
              </a:rPr>
              <a:t>Has constructor, invoked from subclass</a:t>
            </a:r>
          </a:p>
          <a:p>
            <a:pPr>
              <a:buFont typeface="Wingdings" panose="05000000000000000000" pitchFamily="2" charset="2"/>
              <a:buChar char="§"/>
            </a:pPr>
            <a:r>
              <a:rPr lang="en-US" altLang="en-US" sz="2400" dirty="0">
                <a:latin typeface="Arial" panose="020B0604020202020204" pitchFamily="34" charset="0"/>
                <a:cs typeface="Arial" panose="020B0604020202020204" pitchFamily="34" charset="0"/>
              </a:rPr>
              <a:t>Cannot be instantiated</a:t>
            </a:r>
          </a:p>
          <a:p>
            <a:pPr>
              <a:buFont typeface="Wingdings" panose="05000000000000000000" pitchFamily="2" charset="2"/>
              <a:buChar char="§"/>
            </a:pPr>
            <a:r>
              <a:rPr lang="en-US" altLang="en-US" sz="2400" dirty="0">
                <a:latin typeface="Arial" panose="020B0604020202020204" pitchFamily="34" charset="0"/>
                <a:cs typeface="Arial" panose="020B0604020202020204" pitchFamily="34" charset="0"/>
              </a:rPr>
              <a:t>Can have abstract and non-abstract methods</a:t>
            </a:r>
          </a:p>
          <a:p>
            <a:pPr>
              <a:buFont typeface="Wingdings" panose="05000000000000000000" pitchFamily="2" charset="2"/>
              <a:buChar char="§"/>
            </a:pPr>
            <a:r>
              <a:rPr lang="en-US" altLang="en-US" sz="2400" dirty="0">
                <a:latin typeface="Arial" panose="020B0604020202020204" pitchFamily="34" charset="0"/>
                <a:cs typeface="Arial" panose="020B0604020202020204" pitchFamily="34" charset="0"/>
              </a:rPr>
              <a:t>Subclass can be abstract or concrete</a:t>
            </a:r>
          </a:p>
          <a:p>
            <a:pPr>
              <a:buFont typeface="Wingdings" panose="05000000000000000000" pitchFamily="2" charset="2"/>
              <a:buChar char="§"/>
            </a:pPr>
            <a:r>
              <a:rPr lang="en-US" altLang="en-US" sz="2400" dirty="0">
                <a:latin typeface="Arial" panose="020B0604020202020204" pitchFamily="34" charset="0"/>
                <a:cs typeface="Arial" panose="020B0604020202020204" pitchFamily="34" charset="0"/>
              </a:rPr>
              <a:t>Superclass can be abstract or concrete</a:t>
            </a:r>
          </a:p>
          <a:p>
            <a:pPr>
              <a:buFont typeface="Wingdings" panose="05000000000000000000" pitchFamily="2" charset="2"/>
              <a:buChar char="§"/>
            </a:pPr>
            <a:r>
              <a:rPr lang="en-US" altLang="en-US" sz="2400" dirty="0">
                <a:latin typeface="Arial" panose="020B0604020202020204" pitchFamily="34" charset="0"/>
                <a:cs typeface="Arial" panose="020B0604020202020204" pitchFamily="34" charset="0"/>
              </a:rPr>
              <a:t>Abstract class can be an object’s data type</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673384-5D4C-4D03-94F6-FE1EDC08F631}"/>
              </a:ext>
            </a:extLst>
          </p:cNvPr>
          <p:cNvSpPr>
            <a:spLocks noGrp="1"/>
          </p:cNvSpPr>
          <p:nvPr>
            <p:ph type="title"/>
          </p:nvPr>
        </p:nvSpPr>
        <p:spPr>
          <a:xfrm>
            <a:off x="468313" y="215371"/>
            <a:ext cx="8207376" cy="1097279"/>
          </a:xfrm>
        </p:spPr>
        <p:txBody>
          <a:bodyPr/>
          <a:lstStyle/>
          <a:p>
            <a:r>
              <a:rPr lang="en-US" sz="3200" dirty="0"/>
              <a:t>Case Study: The Abstract Number Class</a:t>
            </a:r>
          </a:p>
        </p:txBody>
      </p:sp>
      <p:pic>
        <p:nvPicPr>
          <p:cNvPr id="7" name="Picture 6" descr="The computer code shows the Case Study for the Abstract Number Class. For long description in Notes pane, press F6.">
            <a:extLst>
              <a:ext uri="{FF2B5EF4-FFF2-40B4-BE49-F238E27FC236}">
                <a16:creationId xmlns:a16="http://schemas.microsoft.com/office/drawing/2014/main" id="{86EA8A91-2D61-4790-AE72-7222F9A8CCA2}"/>
              </a:ext>
            </a:extLst>
          </p:cNvPr>
          <p:cNvPicPr>
            <a:picLocks noChangeAspect="1"/>
          </p:cNvPicPr>
          <p:nvPr/>
        </p:nvPicPr>
        <p:blipFill>
          <a:blip r:embed="rId3"/>
          <a:stretch>
            <a:fillRect/>
          </a:stretch>
        </p:blipFill>
        <p:spPr>
          <a:xfrm>
            <a:off x="649275" y="2133113"/>
            <a:ext cx="7898457" cy="2591772"/>
          </a:xfrm>
          <a:prstGeom prst="rect">
            <a:avLst/>
          </a:prstGeom>
        </p:spPr>
      </p:pic>
      <p:sp>
        <p:nvSpPr>
          <p:cNvPr id="12" name="Text Placeholder 11">
            <a:extLst>
              <a:ext uri="{FF2B5EF4-FFF2-40B4-BE49-F238E27FC236}">
                <a16:creationId xmlns:a16="http://schemas.microsoft.com/office/drawing/2014/main" id="{A1617C68-5F9B-4EA9-A616-F346EBE01A69}"/>
              </a:ext>
            </a:extLst>
          </p:cNvPr>
          <p:cNvSpPr>
            <a:spLocks noGrp="1"/>
          </p:cNvSpPr>
          <p:nvPr>
            <p:ph type="body" sz="quarter" idx="20"/>
          </p:nvPr>
        </p:nvSpPr>
        <p:spPr>
          <a:xfrm>
            <a:off x="3325761" y="5250476"/>
            <a:ext cx="2492477" cy="422770"/>
          </a:xfrm>
        </p:spPr>
        <p:txBody>
          <a:bodyPr/>
          <a:lstStyle/>
          <a:p>
            <a:pPr algn="ctr">
              <a:spcBef>
                <a:spcPct val="0"/>
              </a:spcBef>
              <a:buClrTx/>
              <a:buSzTx/>
              <a:buFontTx/>
              <a:buNone/>
            </a:pPr>
            <a:r>
              <a:rPr lang="en-US" altLang="en-US" sz="2000">
                <a:hlinkClick r:id="rId4" tooltip="https://liveexample.pearsoncmg.com/html/LargestNumbers.html"/>
              </a:rPr>
              <a:t>LargestNumbers</a:t>
            </a:r>
          </a:p>
        </p:txBody>
      </p:sp>
    </p:spTree>
    <p:extLst>
      <p:ext uri="{BB962C8B-B14F-4D97-AF65-F5344CB8AC3E}">
        <p14:creationId xmlns:p14="http://schemas.microsoft.com/office/powerpoint/2010/main" val="2231935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B6ED4-20AE-42B6-9B05-16868BEE4D36}"/>
              </a:ext>
            </a:extLst>
          </p:cNvPr>
          <p:cNvSpPr>
            <a:spLocks noGrp="1"/>
          </p:cNvSpPr>
          <p:nvPr>
            <p:ph type="title"/>
          </p:nvPr>
        </p:nvSpPr>
        <p:spPr>
          <a:xfrm>
            <a:off x="457200" y="215371"/>
            <a:ext cx="8218488" cy="1097279"/>
          </a:xfrm>
        </p:spPr>
        <p:txBody>
          <a:bodyPr/>
          <a:lstStyle/>
          <a:p>
            <a:r>
              <a:rPr lang="en-US" dirty="0"/>
              <a:t>Interfaces</a:t>
            </a:r>
          </a:p>
        </p:txBody>
      </p:sp>
      <p:sp>
        <p:nvSpPr>
          <p:cNvPr id="3" name="Content Placeholder 2">
            <a:extLst>
              <a:ext uri="{FF2B5EF4-FFF2-40B4-BE49-F238E27FC236}">
                <a16:creationId xmlns:a16="http://schemas.microsoft.com/office/drawing/2014/main" id="{EB8D2028-8A09-4FDF-9D27-7D5FCAD5E261}"/>
              </a:ext>
            </a:extLst>
          </p:cNvPr>
          <p:cNvSpPr>
            <a:spLocks noGrp="1"/>
          </p:cNvSpPr>
          <p:nvPr>
            <p:ph sz="quarter" idx="13"/>
          </p:nvPr>
        </p:nvSpPr>
        <p:spPr>
          <a:xfrm>
            <a:off x="457201" y="1554921"/>
            <a:ext cx="8218488" cy="2196000"/>
          </a:xfrm>
        </p:spPr>
        <p:txBody>
          <a:bodyPr/>
          <a:lstStyle/>
          <a:p>
            <a:pPr marL="0" indent="0">
              <a:buFont typeface="Monotype Sorts"/>
              <a:buNone/>
            </a:pPr>
            <a:r>
              <a:rPr lang="en-US" altLang="en-US">
                <a:cs typeface="Courier New" panose="02070309020205020404" pitchFamily="49" charset="0"/>
              </a:rPr>
              <a:t>What is an interface?</a:t>
            </a:r>
          </a:p>
          <a:p>
            <a:pPr marL="0" indent="0">
              <a:buFont typeface="Monotype Sorts"/>
              <a:buNone/>
            </a:pPr>
            <a:r>
              <a:rPr lang="en-US" altLang="en-US">
                <a:cs typeface="Courier New" panose="02070309020205020404" pitchFamily="49" charset="0"/>
              </a:rPr>
              <a:t>Why is an interface useful?</a:t>
            </a:r>
          </a:p>
          <a:p>
            <a:pPr marL="0" indent="0">
              <a:buFont typeface="Monotype Sorts"/>
              <a:buNone/>
            </a:pPr>
            <a:r>
              <a:rPr lang="en-US" altLang="en-US">
                <a:cs typeface="Courier New" panose="02070309020205020404" pitchFamily="49" charset="0"/>
              </a:rPr>
              <a:t>How do you define an interface?</a:t>
            </a:r>
          </a:p>
          <a:p>
            <a:pPr marL="0" indent="0">
              <a:buFont typeface="Monotype Sorts"/>
              <a:buNone/>
            </a:pPr>
            <a:r>
              <a:rPr lang="en-US" altLang="en-US">
                <a:cs typeface="Courier New" panose="02070309020205020404" pitchFamily="49" charset="0"/>
              </a:rPr>
              <a:t>How do you use an interface?</a:t>
            </a:r>
          </a:p>
        </p:txBody>
      </p:sp>
    </p:spTree>
    <p:extLst>
      <p:ext uri="{BB962C8B-B14F-4D97-AF65-F5344CB8AC3E}">
        <p14:creationId xmlns:p14="http://schemas.microsoft.com/office/powerpoint/2010/main" val="4255116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8616-22DB-431B-89B1-89D9F6E51377}"/>
              </a:ext>
            </a:extLst>
          </p:cNvPr>
          <p:cNvSpPr>
            <a:spLocks noGrp="1"/>
          </p:cNvSpPr>
          <p:nvPr>
            <p:ph type="title"/>
          </p:nvPr>
        </p:nvSpPr>
        <p:spPr>
          <a:xfrm>
            <a:off x="457200" y="215371"/>
            <a:ext cx="8218488" cy="1097279"/>
          </a:xfrm>
        </p:spPr>
        <p:txBody>
          <a:bodyPr/>
          <a:lstStyle/>
          <a:p>
            <a:r>
              <a:rPr lang="en-US" altLang="en-US" sz="3200" dirty="0">
                <a:cs typeface="Courier New" panose="02070309020205020404" pitchFamily="49" charset="0"/>
              </a:rPr>
              <a:t>What Is an Interface? Why Is an Interface Useful?</a:t>
            </a:r>
            <a:endParaRPr lang="en-US" sz="3200" dirty="0"/>
          </a:p>
        </p:txBody>
      </p:sp>
      <p:sp>
        <p:nvSpPr>
          <p:cNvPr id="3" name="Content Placeholder 2">
            <a:extLst>
              <a:ext uri="{FF2B5EF4-FFF2-40B4-BE49-F238E27FC236}">
                <a16:creationId xmlns:a16="http://schemas.microsoft.com/office/drawing/2014/main" id="{1E2E6895-04B4-4CC7-B9CA-62D5E9749D42}"/>
              </a:ext>
            </a:extLst>
          </p:cNvPr>
          <p:cNvSpPr>
            <a:spLocks noGrp="1"/>
          </p:cNvSpPr>
          <p:nvPr>
            <p:ph sz="quarter" idx="13"/>
          </p:nvPr>
        </p:nvSpPr>
        <p:spPr>
          <a:xfrm>
            <a:off x="457200" y="1554921"/>
            <a:ext cx="8232775" cy="2376000"/>
          </a:xfrm>
        </p:spPr>
        <p:txBody>
          <a:bodyPr/>
          <a:lstStyle/>
          <a:p>
            <a:pPr marL="432" indent="0">
              <a:buNone/>
            </a:pPr>
            <a:r>
              <a:rPr lang="en-US" altLang="en-US"/>
              <a:t>An interface is a classlike construct that contains only constants and abstract methods. In many ways, an interface is similar to an abstract class, but the intent of an interface is to specify common behavior for objects. For example, you can specify that the objects are comparable, edible, cloneable using appropriate interfaces.</a:t>
            </a:r>
            <a:endParaRPr lang="en-US" altLang="en-US" sz="2000">
              <a:ea typeface="PMingLiU" panose="02020500000000000000" pitchFamily="18" charset="-120"/>
            </a:endParaRPr>
          </a:p>
        </p:txBody>
      </p:sp>
    </p:spTree>
    <p:extLst>
      <p:ext uri="{BB962C8B-B14F-4D97-AF65-F5344CB8AC3E}">
        <p14:creationId xmlns:p14="http://schemas.microsoft.com/office/powerpoint/2010/main" val="2579062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CDC2C-DA56-4A9D-A311-D51ECBF4A7F5}"/>
              </a:ext>
            </a:extLst>
          </p:cNvPr>
          <p:cNvSpPr>
            <a:spLocks noGrp="1"/>
          </p:cNvSpPr>
          <p:nvPr>
            <p:ph type="title"/>
          </p:nvPr>
        </p:nvSpPr>
        <p:spPr>
          <a:xfrm>
            <a:off x="457200" y="215371"/>
            <a:ext cx="8218488" cy="1097279"/>
          </a:xfrm>
        </p:spPr>
        <p:txBody>
          <a:bodyPr/>
          <a:lstStyle/>
          <a:p>
            <a:r>
              <a:rPr lang="en-US" dirty="0"/>
              <a:t>Define an Interface</a:t>
            </a:r>
          </a:p>
        </p:txBody>
      </p:sp>
      <p:sp>
        <p:nvSpPr>
          <p:cNvPr id="3" name="Content Placeholder 2">
            <a:extLst>
              <a:ext uri="{FF2B5EF4-FFF2-40B4-BE49-F238E27FC236}">
                <a16:creationId xmlns:a16="http://schemas.microsoft.com/office/drawing/2014/main" id="{43C3C978-8D02-4947-AB6F-677C6A7F4A18}"/>
              </a:ext>
            </a:extLst>
          </p:cNvPr>
          <p:cNvSpPr>
            <a:spLocks noGrp="1"/>
          </p:cNvSpPr>
          <p:nvPr>
            <p:ph sz="quarter" idx="13"/>
          </p:nvPr>
        </p:nvSpPr>
        <p:spPr>
          <a:xfrm>
            <a:off x="457200" y="1552574"/>
            <a:ext cx="8218488" cy="784225"/>
          </a:xfrm>
        </p:spPr>
        <p:txBody>
          <a:bodyPr/>
          <a:lstStyle/>
          <a:p>
            <a:pPr marL="432" indent="0">
              <a:buNone/>
            </a:pPr>
            <a:r>
              <a:rPr lang="en-US" altLang="en-US" sz="2000" dirty="0">
                <a:cs typeface="Courier New" panose="02070309020205020404" pitchFamily="49" charset="0"/>
              </a:rPr>
              <a:t>To distinguish an interface from a class, Java uses the following syntax to define an interface:</a:t>
            </a:r>
          </a:p>
        </p:txBody>
      </p:sp>
      <p:sp>
        <p:nvSpPr>
          <p:cNvPr id="4" name="Content Placeholder 3">
            <a:extLst>
              <a:ext uri="{FF2B5EF4-FFF2-40B4-BE49-F238E27FC236}">
                <a16:creationId xmlns:a16="http://schemas.microsoft.com/office/drawing/2014/main" id="{ED98867A-8AA3-4BF8-94F0-1898611D2427}"/>
              </a:ext>
            </a:extLst>
          </p:cNvPr>
          <p:cNvSpPr>
            <a:spLocks noGrp="1"/>
          </p:cNvSpPr>
          <p:nvPr>
            <p:ph sz="quarter" idx="14"/>
          </p:nvPr>
        </p:nvSpPr>
        <p:spPr>
          <a:xfrm>
            <a:off x="457200" y="2441172"/>
            <a:ext cx="5546035" cy="1643148"/>
          </a:xfrm>
        </p:spPr>
        <p:txBody>
          <a:bodyPr/>
          <a:lstStyle/>
          <a:p>
            <a:pPr>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public interface </a:t>
            </a:r>
            <a:r>
              <a:rPr lang="en-US" altLang="en-US" sz="2000" b="1" dirty="0" err="1">
                <a:solidFill>
                  <a:schemeClr val="tx1"/>
                </a:solidFill>
                <a:latin typeface="Courier New" panose="02070309020205020404" pitchFamily="49" charset="0"/>
                <a:cs typeface="Courier New" panose="02070309020205020404" pitchFamily="49" charset="0"/>
              </a:rPr>
              <a:t>InterfaceName</a:t>
            </a:r>
            <a:r>
              <a:rPr lang="en-US" altLang="en-US" sz="2000" b="1" dirty="0">
                <a:solidFill>
                  <a:schemeClr val="tx1"/>
                </a:solidFill>
                <a:latin typeface="Courier New" panose="02070309020205020404" pitchFamily="49" charset="0"/>
                <a:cs typeface="Courier New" panose="02070309020205020404" pitchFamily="49" charset="0"/>
              </a:rPr>
              <a:t> {</a:t>
            </a:r>
          </a:p>
          <a:p>
            <a:pPr marL="255588" indent="9525">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constant declarations;</a:t>
            </a:r>
          </a:p>
          <a:p>
            <a:pPr marL="255588" indent="9525">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abstract method signatures;</a:t>
            </a:r>
          </a:p>
          <a:p>
            <a:pPr>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a:t>
            </a:r>
          </a:p>
        </p:txBody>
      </p:sp>
      <p:sp>
        <p:nvSpPr>
          <p:cNvPr id="5" name="Content Placeholder 4">
            <a:extLst>
              <a:ext uri="{FF2B5EF4-FFF2-40B4-BE49-F238E27FC236}">
                <a16:creationId xmlns:a16="http://schemas.microsoft.com/office/drawing/2014/main" id="{EBCF33E0-47BE-411A-BA52-7CE8BE718969}"/>
              </a:ext>
            </a:extLst>
          </p:cNvPr>
          <p:cNvSpPr>
            <a:spLocks noGrp="1"/>
          </p:cNvSpPr>
          <p:nvPr>
            <p:ph sz="quarter" idx="15"/>
          </p:nvPr>
        </p:nvSpPr>
        <p:spPr>
          <a:xfrm>
            <a:off x="457200" y="4223828"/>
            <a:ext cx="1368000" cy="360000"/>
          </a:xfrm>
        </p:spPr>
        <p:txBody>
          <a:bodyPr tIns="0"/>
          <a:lstStyle/>
          <a:p>
            <a:pPr marL="432" indent="0">
              <a:buNone/>
            </a:pPr>
            <a:r>
              <a:rPr lang="en-US" altLang="en-US" sz="2000" dirty="0"/>
              <a:t>Example</a:t>
            </a:r>
            <a:r>
              <a:rPr lang="en-US" altLang="en-US" sz="2000" dirty="0">
                <a:cs typeface="Courier New" panose="02070309020205020404" pitchFamily="49" charset="0"/>
              </a:rPr>
              <a:t>:</a:t>
            </a:r>
          </a:p>
        </p:txBody>
      </p:sp>
      <p:sp>
        <p:nvSpPr>
          <p:cNvPr id="6" name="Content Placeholder 5">
            <a:extLst>
              <a:ext uri="{FF2B5EF4-FFF2-40B4-BE49-F238E27FC236}">
                <a16:creationId xmlns:a16="http://schemas.microsoft.com/office/drawing/2014/main" id="{8BB75F1E-A05E-4CA3-B4DA-E923C3B3A384}"/>
              </a:ext>
            </a:extLst>
          </p:cNvPr>
          <p:cNvSpPr>
            <a:spLocks noGrp="1"/>
          </p:cNvSpPr>
          <p:nvPr>
            <p:ph sz="quarter" idx="16"/>
          </p:nvPr>
        </p:nvSpPr>
        <p:spPr>
          <a:xfrm>
            <a:off x="457200" y="4728863"/>
            <a:ext cx="6370320" cy="1560177"/>
          </a:xfrm>
        </p:spPr>
        <p:txBody>
          <a:bodyPr/>
          <a:lstStyle/>
          <a:p>
            <a:pPr>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public interface Edible {</a:t>
            </a:r>
          </a:p>
          <a:p>
            <a:pPr marL="255588" indent="9525">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 Describe how to eat */</a:t>
            </a:r>
          </a:p>
          <a:p>
            <a:pPr marL="255588" indent="9525">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public abstract String </a:t>
            </a:r>
            <a:r>
              <a:rPr lang="en-US" altLang="en-US" sz="2000" b="1" dirty="0" err="1">
                <a:solidFill>
                  <a:schemeClr val="tx1"/>
                </a:solidFill>
                <a:latin typeface="Courier New" panose="02070309020205020404" pitchFamily="49" charset="0"/>
                <a:cs typeface="Courier New" panose="02070309020205020404" pitchFamily="49" charset="0"/>
              </a:rPr>
              <a:t>howToEat</a:t>
            </a:r>
            <a:r>
              <a:rPr lang="en-US" altLang="en-US" sz="2000" b="1" dirty="0">
                <a:solidFill>
                  <a:schemeClr val="tx1"/>
                </a:solidFill>
                <a:latin typeface="Courier New" panose="02070309020205020404" pitchFamily="49" charset="0"/>
                <a:cs typeface="Courier New" panose="02070309020205020404" pitchFamily="49" charset="0"/>
              </a:rPr>
              <a:t>();</a:t>
            </a:r>
          </a:p>
          <a:p>
            <a:pPr>
              <a:spcBef>
                <a:spcPts val="600"/>
              </a:spcBef>
              <a:buFont typeface="Monotype Sorts"/>
              <a:buNone/>
            </a:pPr>
            <a:r>
              <a:rPr lang="en-US" altLang="en-US" sz="2000" b="1"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016440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522D-0455-4EC8-A831-B9D1D3934BAD}"/>
              </a:ext>
            </a:extLst>
          </p:cNvPr>
          <p:cNvSpPr>
            <a:spLocks noGrp="1"/>
          </p:cNvSpPr>
          <p:nvPr>
            <p:ph type="title"/>
          </p:nvPr>
        </p:nvSpPr>
        <p:spPr>
          <a:xfrm>
            <a:off x="457200" y="215371"/>
            <a:ext cx="8218488" cy="1097279"/>
          </a:xfrm>
        </p:spPr>
        <p:txBody>
          <a:bodyPr/>
          <a:lstStyle/>
          <a:p>
            <a:r>
              <a:rPr lang="en-US" dirty="0"/>
              <a:t>Interface Is a Special Class</a:t>
            </a:r>
          </a:p>
        </p:txBody>
      </p:sp>
      <p:sp>
        <p:nvSpPr>
          <p:cNvPr id="3" name="Content Placeholder 2">
            <a:extLst>
              <a:ext uri="{FF2B5EF4-FFF2-40B4-BE49-F238E27FC236}">
                <a16:creationId xmlns:a16="http://schemas.microsoft.com/office/drawing/2014/main" id="{E3DCF939-181D-47BA-A7E3-4631235D8280}"/>
              </a:ext>
            </a:extLst>
          </p:cNvPr>
          <p:cNvSpPr>
            <a:spLocks noGrp="1"/>
          </p:cNvSpPr>
          <p:nvPr>
            <p:ph sz="quarter" idx="13"/>
          </p:nvPr>
        </p:nvSpPr>
        <p:spPr>
          <a:xfrm>
            <a:off x="457200" y="1554921"/>
            <a:ext cx="8218488" cy="3096000"/>
          </a:xfrm>
        </p:spPr>
        <p:txBody>
          <a:bodyPr/>
          <a:lstStyle/>
          <a:p>
            <a:pPr marL="432" indent="0">
              <a:buNone/>
            </a:pPr>
            <a:r>
              <a:rPr lang="en-US" altLang="en-US" dirty="0">
                <a:cs typeface="Courier New" panose="02070309020205020404" pitchFamily="49" charset="0"/>
              </a:rPr>
              <a:t>An interface is treated like a special class in Java. Each interface is compiled into a separate bytecode file, just like a regular class. Like an abstract class, you cannot create an instance from an interface using the new operator, but in most cases you can use an interface more or less the same way you use an abstract class. For example, you can use an interface as a data type for a variable, as the result of casting, and so on.</a:t>
            </a:r>
            <a:endParaRPr lang="en-US" altLang="en-US" dirty="0">
              <a:ea typeface="PMingLiU" panose="02020500000000000000" pitchFamily="18" charset="-120"/>
            </a:endParaRPr>
          </a:p>
        </p:txBody>
      </p:sp>
    </p:spTree>
    <p:extLst>
      <p:ext uri="{BB962C8B-B14F-4D97-AF65-F5344CB8AC3E}">
        <p14:creationId xmlns:p14="http://schemas.microsoft.com/office/powerpoint/2010/main" val="120150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E943E-D10D-4810-B3E5-D950AE9427F7}"/>
              </a:ext>
            </a:extLst>
          </p:cNvPr>
          <p:cNvSpPr>
            <a:spLocks noGrp="1"/>
          </p:cNvSpPr>
          <p:nvPr>
            <p:ph type="title"/>
          </p:nvPr>
        </p:nvSpPr>
        <p:spPr>
          <a:xfrm>
            <a:off x="457200" y="215371"/>
            <a:ext cx="8218488" cy="1097279"/>
          </a:xfrm>
        </p:spPr>
        <p:txBody>
          <a:bodyPr/>
          <a:lstStyle/>
          <a:p>
            <a:r>
              <a:rPr lang="en-US" dirty="0"/>
              <a:t>Example </a:t>
            </a:r>
            <a:r>
              <a:rPr lang="en-US" sz="2000" b="0" baseline="0" dirty="0"/>
              <a:t>(1 of 2)</a:t>
            </a:r>
          </a:p>
        </p:txBody>
      </p:sp>
      <p:sp>
        <p:nvSpPr>
          <p:cNvPr id="3" name="Content Placeholder 2">
            <a:extLst>
              <a:ext uri="{FF2B5EF4-FFF2-40B4-BE49-F238E27FC236}">
                <a16:creationId xmlns:a16="http://schemas.microsoft.com/office/drawing/2014/main" id="{67A99394-BC06-45C0-B7ED-022E71547E40}"/>
              </a:ext>
            </a:extLst>
          </p:cNvPr>
          <p:cNvSpPr>
            <a:spLocks noGrp="1"/>
          </p:cNvSpPr>
          <p:nvPr>
            <p:ph sz="quarter" idx="13"/>
          </p:nvPr>
        </p:nvSpPr>
        <p:spPr>
          <a:xfrm>
            <a:off x="457200" y="1552575"/>
            <a:ext cx="8218488" cy="1692000"/>
          </a:xfrm>
        </p:spPr>
        <p:txBody>
          <a:bodyPr/>
          <a:lstStyle/>
          <a:p>
            <a:pPr marL="432" indent="0">
              <a:buNone/>
            </a:pPr>
            <a:r>
              <a:rPr lang="en-US" altLang="en-US" sz="2000" dirty="0"/>
              <a:t>You can now use the Edible interface to specify whether an object is edible. This is accomplished by letting the class for the object implement this interface using the implements keyword. For example, the classes Chicken and Fruit implement the Edible interface (See </a:t>
            </a:r>
            <a:r>
              <a:rPr lang="en-US" altLang="en-US" sz="2000" dirty="0">
                <a:latin typeface="Courier New" panose="02070309020205020404" pitchFamily="49" charset="0"/>
                <a:cs typeface="Courier New" panose="02070309020205020404" pitchFamily="49" charset="0"/>
              </a:rPr>
              <a:t>TestEdible</a:t>
            </a:r>
            <a:r>
              <a:rPr lang="en-US" altLang="en-US" sz="2000" dirty="0"/>
              <a:t>).</a:t>
            </a:r>
          </a:p>
        </p:txBody>
      </p:sp>
      <p:pic>
        <p:nvPicPr>
          <p:cNvPr id="7" name="Picture 6" descr="An object shows the Example for Edible and Test Edible. It has 2 boxes which are divided into two parts. For long description in Notes pane, press F6.">
            <a:extLst>
              <a:ext uri="{FF2B5EF4-FFF2-40B4-BE49-F238E27FC236}">
                <a16:creationId xmlns:a16="http://schemas.microsoft.com/office/drawing/2014/main" id="{8FFB4CF8-82EA-4CE6-B07D-D8D5886CA4AE}"/>
              </a:ext>
            </a:extLst>
          </p:cNvPr>
          <p:cNvPicPr>
            <a:picLocks noChangeAspect="1"/>
          </p:cNvPicPr>
          <p:nvPr/>
        </p:nvPicPr>
        <p:blipFill>
          <a:blip r:embed="rId3"/>
          <a:stretch>
            <a:fillRect/>
          </a:stretch>
        </p:blipFill>
        <p:spPr>
          <a:xfrm>
            <a:off x="1550892" y="3382155"/>
            <a:ext cx="6318490" cy="2438717"/>
          </a:xfrm>
          <a:prstGeom prst="rect">
            <a:avLst/>
          </a:prstGeom>
        </p:spPr>
      </p:pic>
      <p:sp>
        <p:nvSpPr>
          <p:cNvPr id="10" name="Text Placeholder 9">
            <a:extLst>
              <a:ext uri="{FF2B5EF4-FFF2-40B4-BE49-F238E27FC236}">
                <a16:creationId xmlns:a16="http://schemas.microsoft.com/office/drawing/2014/main" id="{15E54C58-64F5-4C16-8D05-77FE0ED3A3D0}"/>
              </a:ext>
            </a:extLst>
          </p:cNvPr>
          <p:cNvSpPr>
            <a:spLocks noGrp="1"/>
          </p:cNvSpPr>
          <p:nvPr>
            <p:ph type="body" sz="quarter" idx="20"/>
          </p:nvPr>
        </p:nvSpPr>
        <p:spPr>
          <a:xfrm>
            <a:off x="5520731" y="5982552"/>
            <a:ext cx="914400" cy="360000"/>
          </a:xfrm>
        </p:spPr>
        <p:txBody>
          <a:bodyPr tIns="0"/>
          <a:lstStyle/>
          <a:p>
            <a:pPr marL="432" indent="0">
              <a:buNone/>
            </a:pPr>
            <a:r>
              <a:rPr lang="en-US" altLang="en-US" sz="2000" dirty="0">
                <a:hlinkClick r:id="rId4" tooltip="https://liveexample.pearsoncmg.com/html/Edible.html"/>
              </a:rPr>
              <a:t>Edible</a:t>
            </a:r>
          </a:p>
        </p:txBody>
      </p:sp>
      <p:sp>
        <p:nvSpPr>
          <p:cNvPr id="11" name="Text Placeholder 10">
            <a:extLst>
              <a:ext uri="{FF2B5EF4-FFF2-40B4-BE49-F238E27FC236}">
                <a16:creationId xmlns:a16="http://schemas.microsoft.com/office/drawing/2014/main" id="{4C7DE480-08CA-4C04-BC78-4476F8F0F660}"/>
              </a:ext>
            </a:extLst>
          </p:cNvPr>
          <p:cNvSpPr>
            <a:spLocks noGrp="1"/>
          </p:cNvSpPr>
          <p:nvPr>
            <p:ph type="body" sz="quarter" idx="21"/>
          </p:nvPr>
        </p:nvSpPr>
        <p:spPr>
          <a:xfrm>
            <a:off x="7128305" y="5955038"/>
            <a:ext cx="1415845" cy="360000"/>
          </a:xfrm>
        </p:spPr>
        <p:txBody>
          <a:bodyPr tIns="0"/>
          <a:lstStyle/>
          <a:p>
            <a:pPr marL="432" indent="0">
              <a:buNone/>
            </a:pPr>
            <a:r>
              <a:rPr lang="en-US" altLang="en-US" sz="2000" dirty="0">
                <a:hlinkClick r:id="rId5" tooltip="https://liveexample.pearsoncmg.com/html/TestEdible.html"/>
              </a:rPr>
              <a:t>TestEdible</a:t>
            </a:r>
          </a:p>
        </p:txBody>
      </p:sp>
    </p:spTree>
    <p:extLst>
      <p:ext uri="{BB962C8B-B14F-4D97-AF65-F5344CB8AC3E}">
        <p14:creationId xmlns:p14="http://schemas.microsoft.com/office/powerpoint/2010/main" val="4095444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7C905-8301-496D-A100-77E4FCA1986B}"/>
              </a:ext>
            </a:extLst>
          </p:cNvPr>
          <p:cNvSpPr>
            <a:spLocks noGrp="1"/>
          </p:cNvSpPr>
          <p:nvPr>
            <p:ph type="title"/>
          </p:nvPr>
        </p:nvSpPr>
        <p:spPr>
          <a:xfrm>
            <a:off x="457200" y="215371"/>
            <a:ext cx="8218488" cy="1097279"/>
          </a:xfrm>
        </p:spPr>
        <p:txBody>
          <a:bodyPr/>
          <a:lstStyle/>
          <a:p>
            <a:r>
              <a:rPr lang="en-US" dirty="0"/>
              <a:t>Omitting Modifiers in Interfaces</a:t>
            </a:r>
          </a:p>
        </p:txBody>
      </p:sp>
      <p:sp>
        <p:nvSpPr>
          <p:cNvPr id="3" name="Content Placeholder 2">
            <a:extLst>
              <a:ext uri="{FF2B5EF4-FFF2-40B4-BE49-F238E27FC236}">
                <a16:creationId xmlns:a16="http://schemas.microsoft.com/office/drawing/2014/main" id="{B891E16A-F6C7-4877-8ADD-93A0A255B1F8}"/>
              </a:ext>
            </a:extLst>
          </p:cNvPr>
          <p:cNvSpPr>
            <a:spLocks noGrp="1"/>
          </p:cNvSpPr>
          <p:nvPr>
            <p:ph sz="quarter" idx="13"/>
          </p:nvPr>
        </p:nvSpPr>
        <p:spPr>
          <a:xfrm>
            <a:off x="457201" y="1552575"/>
            <a:ext cx="8229600" cy="1293864"/>
          </a:xfrm>
        </p:spPr>
        <p:txBody>
          <a:bodyPr/>
          <a:lstStyle/>
          <a:p>
            <a:pPr marL="432" indent="0">
              <a:buNone/>
            </a:pPr>
            <a:r>
              <a:rPr lang="en-US" altLang="en-US" dirty="0">
                <a:cs typeface="Times New Roman" panose="02020603050405020304" pitchFamily="18" charset="0"/>
              </a:rPr>
              <a:t>All data fields are </a:t>
            </a:r>
            <a:r>
              <a:rPr lang="en-US" altLang="en-US" b="1" dirty="0">
                <a:latin typeface="Courier New" panose="02070309020205020404" pitchFamily="49" charset="0"/>
                <a:cs typeface="Courier New" panose="02070309020205020404" pitchFamily="49" charset="0"/>
              </a:rPr>
              <a:t>public final static </a:t>
            </a:r>
            <a:r>
              <a:rPr lang="en-US" altLang="en-US" dirty="0">
                <a:cs typeface="Times New Roman" panose="02020603050405020304" pitchFamily="18" charset="0"/>
              </a:rPr>
              <a:t>and all methods are </a:t>
            </a:r>
            <a:r>
              <a:rPr lang="en-US" altLang="en-US" b="1" dirty="0">
                <a:latin typeface="Courier New" panose="02070309020205020404" pitchFamily="49" charset="0"/>
                <a:cs typeface="Courier New" panose="02070309020205020404" pitchFamily="49" charset="0"/>
              </a:rPr>
              <a:t>public abstract</a:t>
            </a:r>
            <a:r>
              <a:rPr lang="en-US" altLang="en-US" i="1" dirty="0">
                <a:latin typeface="Courier New" panose="02070309020205020404" pitchFamily="49" charset="0"/>
                <a:cs typeface="Courier New" panose="02070309020205020404" pitchFamily="49" charset="0"/>
              </a:rPr>
              <a:t> </a:t>
            </a:r>
            <a:r>
              <a:rPr lang="en-US" altLang="en-US" dirty="0">
                <a:cs typeface="Times New Roman" panose="02020603050405020304" pitchFamily="18" charset="0"/>
              </a:rPr>
              <a:t>in an interface. For this reason, these modifiers can be omitted, as shown below:</a:t>
            </a:r>
          </a:p>
        </p:txBody>
      </p:sp>
      <p:pic>
        <p:nvPicPr>
          <p:cNvPr id="8" name="Picture 7" descr="The computer code shows the Omitting Modifiers in Interfaces. For long description in Notes pane, press F6.">
            <a:extLst>
              <a:ext uri="{FF2B5EF4-FFF2-40B4-BE49-F238E27FC236}">
                <a16:creationId xmlns:a16="http://schemas.microsoft.com/office/drawing/2014/main" id="{4AC22048-45AB-4875-85A2-CED0850AAC72}"/>
              </a:ext>
            </a:extLst>
          </p:cNvPr>
          <p:cNvPicPr>
            <a:picLocks noChangeAspect="1"/>
          </p:cNvPicPr>
          <p:nvPr/>
        </p:nvPicPr>
        <p:blipFill>
          <a:blip r:embed="rId3"/>
          <a:stretch>
            <a:fillRect/>
          </a:stretch>
        </p:blipFill>
        <p:spPr>
          <a:xfrm>
            <a:off x="787169" y="3081246"/>
            <a:ext cx="7278116" cy="1305107"/>
          </a:xfrm>
          <a:prstGeom prst="rect">
            <a:avLst/>
          </a:prstGeom>
        </p:spPr>
      </p:pic>
      <p:sp>
        <p:nvSpPr>
          <p:cNvPr id="5" name="Content Placeholder 4">
            <a:extLst>
              <a:ext uri="{FF2B5EF4-FFF2-40B4-BE49-F238E27FC236}">
                <a16:creationId xmlns:a16="http://schemas.microsoft.com/office/drawing/2014/main" id="{0B2A3E7E-4FAC-4945-B07B-10055CF852CE}"/>
              </a:ext>
            </a:extLst>
          </p:cNvPr>
          <p:cNvSpPr>
            <a:spLocks noGrp="1"/>
          </p:cNvSpPr>
          <p:nvPr>
            <p:ph sz="quarter" idx="15"/>
          </p:nvPr>
        </p:nvSpPr>
        <p:spPr>
          <a:xfrm>
            <a:off x="457200" y="4693786"/>
            <a:ext cx="8229601" cy="969594"/>
          </a:xfrm>
        </p:spPr>
        <p:txBody>
          <a:bodyPr/>
          <a:lstStyle/>
          <a:p>
            <a:pPr marL="432" indent="0">
              <a:buNone/>
            </a:pPr>
            <a:r>
              <a:rPr lang="en-US" altLang="en-US" dirty="0">
                <a:cs typeface="Times New Roman" panose="02020603050405020304" pitchFamily="18" charset="0"/>
              </a:rPr>
              <a:t>A constant defined in an interface can be accessed using syntax </a:t>
            </a:r>
            <a:r>
              <a:rPr lang="en-US" altLang="en-US" dirty="0">
                <a:latin typeface="Courier New" panose="02070309020205020404" pitchFamily="49" charset="0"/>
                <a:cs typeface="Courier New" panose="02070309020205020404" pitchFamily="49" charset="0"/>
              </a:rPr>
              <a:t>InterfaceName.CONSTANT_NAME </a:t>
            </a:r>
            <a:r>
              <a:rPr lang="en-US" altLang="en-US" dirty="0">
                <a:cs typeface="Times New Roman" panose="02020603050405020304" pitchFamily="18" charset="0"/>
              </a:rPr>
              <a:t>(e.g., T1.K).</a:t>
            </a:r>
          </a:p>
        </p:txBody>
      </p:sp>
    </p:spTree>
    <p:extLst>
      <p:ext uri="{BB962C8B-B14F-4D97-AF65-F5344CB8AC3E}">
        <p14:creationId xmlns:p14="http://schemas.microsoft.com/office/powerpoint/2010/main" val="3610244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BD50A-559E-4E2A-8A16-51141025EFA7}"/>
              </a:ext>
            </a:extLst>
          </p:cNvPr>
          <p:cNvSpPr>
            <a:spLocks noGrp="1"/>
          </p:cNvSpPr>
          <p:nvPr>
            <p:ph type="title"/>
          </p:nvPr>
        </p:nvSpPr>
        <p:spPr>
          <a:xfrm>
            <a:off x="457200" y="215371"/>
            <a:ext cx="8218488" cy="1097279"/>
          </a:xfrm>
        </p:spPr>
        <p:txBody>
          <a:bodyPr/>
          <a:lstStyle/>
          <a:p>
            <a:r>
              <a:rPr lang="en-US" dirty="0"/>
              <a:t>Example: The </a:t>
            </a:r>
            <a:r>
              <a:rPr lang="en-US" dirty="0">
                <a:latin typeface="Courier New" panose="02070309020205020404" pitchFamily="49" charset="0"/>
                <a:cs typeface="Courier New" panose="02070309020205020404" pitchFamily="49" charset="0"/>
              </a:rPr>
              <a:t>Comparable</a:t>
            </a:r>
            <a:r>
              <a:rPr lang="en-US" dirty="0"/>
              <a:t> Interface</a:t>
            </a:r>
          </a:p>
        </p:txBody>
      </p:sp>
      <p:sp>
        <p:nvSpPr>
          <p:cNvPr id="3" name="Content Placeholder 2">
            <a:extLst>
              <a:ext uri="{FF2B5EF4-FFF2-40B4-BE49-F238E27FC236}">
                <a16:creationId xmlns:a16="http://schemas.microsoft.com/office/drawing/2014/main" id="{2D8643D2-8269-448C-8D16-B0BF3A9D2987}"/>
              </a:ext>
            </a:extLst>
          </p:cNvPr>
          <p:cNvSpPr>
            <a:spLocks noGrp="1"/>
          </p:cNvSpPr>
          <p:nvPr>
            <p:ph sz="quarter" idx="13"/>
          </p:nvPr>
        </p:nvSpPr>
        <p:spPr>
          <a:xfrm>
            <a:off x="457200" y="1554920"/>
            <a:ext cx="8232775" cy="3888000"/>
          </a:xfrm>
        </p:spPr>
        <p:txBody>
          <a:bodyPr/>
          <a:lstStyle/>
          <a:p>
            <a:pPr>
              <a:buFont typeface="Monotype Sorts"/>
              <a:buNone/>
            </a:pPr>
            <a:r>
              <a:rPr lang="en-US" altLang="en-US" b="1" dirty="0">
                <a:solidFill>
                  <a:schemeClr val="tx1"/>
                </a:solidFill>
                <a:latin typeface="Courier New" panose="02070309020205020404" pitchFamily="49" charset="0"/>
              </a:rPr>
              <a:t>// This interface is defined in</a:t>
            </a:r>
          </a:p>
          <a:p>
            <a:pPr>
              <a:buFont typeface="Monotype Sorts"/>
              <a:buNone/>
            </a:pPr>
            <a:r>
              <a:rPr lang="en-US" altLang="en-US" b="1" dirty="0">
                <a:solidFill>
                  <a:schemeClr val="tx1"/>
                </a:solidFill>
                <a:latin typeface="Courier New" panose="02070309020205020404" pitchFamily="49" charset="0"/>
              </a:rPr>
              <a:t>// </a:t>
            </a:r>
            <a:r>
              <a:rPr lang="en-US" altLang="en-US" b="1" dirty="0" err="1">
                <a:solidFill>
                  <a:schemeClr val="tx1"/>
                </a:solidFill>
                <a:latin typeface="Courier New" panose="02070309020205020404" pitchFamily="49" charset="0"/>
              </a:rPr>
              <a:t>java.lang</a:t>
            </a:r>
            <a:r>
              <a:rPr lang="en-US" altLang="en-US" b="1" dirty="0">
                <a:solidFill>
                  <a:schemeClr val="tx1"/>
                </a:solidFill>
                <a:latin typeface="Courier New" panose="02070309020205020404" pitchFamily="49" charset="0"/>
              </a:rPr>
              <a:t> package</a:t>
            </a:r>
          </a:p>
          <a:p>
            <a:pPr>
              <a:buFont typeface="Monotype Sorts"/>
              <a:buNone/>
            </a:pPr>
            <a:r>
              <a:rPr lang="en-US" altLang="en-US" b="1" dirty="0">
                <a:solidFill>
                  <a:schemeClr val="tx1"/>
                </a:solidFill>
                <a:latin typeface="Courier New" panose="02070309020205020404" pitchFamily="49" charset="0"/>
              </a:rPr>
              <a:t>package </a:t>
            </a:r>
            <a:r>
              <a:rPr lang="en-US" altLang="en-US" b="1" dirty="0" err="1">
                <a:solidFill>
                  <a:schemeClr val="tx1"/>
                </a:solidFill>
                <a:latin typeface="Courier New" panose="02070309020205020404" pitchFamily="49" charset="0"/>
              </a:rPr>
              <a:t>java.lang</a:t>
            </a:r>
            <a:r>
              <a:rPr lang="en-US" altLang="en-US" b="1" dirty="0">
                <a:solidFill>
                  <a:schemeClr val="tx1"/>
                </a:solidFill>
                <a:latin typeface="Courier New" panose="02070309020205020404" pitchFamily="49" charset="0"/>
              </a:rPr>
              <a:t>;</a:t>
            </a:r>
          </a:p>
          <a:p>
            <a:pPr>
              <a:buFont typeface="Monotype Sorts"/>
              <a:buNone/>
            </a:pPr>
            <a:endParaRPr lang="en-US" altLang="en-US" b="1" dirty="0">
              <a:solidFill>
                <a:schemeClr val="tx1"/>
              </a:solidFill>
              <a:latin typeface="Courier New" panose="02070309020205020404" pitchFamily="49" charset="0"/>
            </a:endParaRPr>
          </a:p>
          <a:p>
            <a:pPr>
              <a:buFont typeface="Monotype Sorts"/>
              <a:buNone/>
            </a:pPr>
            <a:r>
              <a:rPr lang="en-US" altLang="en-US" b="1" dirty="0">
                <a:solidFill>
                  <a:schemeClr val="tx1"/>
                </a:solidFill>
                <a:latin typeface="Courier New" panose="02070309020205020404" pitchFamily="49" charset="0"/>
              </a:rPr>
              <a:t>public interface Comparable&lt;E&gt; {</a:t>
            </a:r>
          </a:p>
          <a:p>
            <a:pPr marL="255588" indent="9525">
              <a:buFont typeface="Monotype Sorts"/>
              <a:buNone/>
            </a:pPr>
            <a:r>
              <a:rPr lang="en-US" altLang="en-US" b="1" dirty="0">
                <a:solidFill>
                  <a:schemeClr val="tx1"/>
                </a:solidFill>
                <a:latin typeface="Courier New" panose="02070309020205020404" pitchFamily="49" charset="0"/>
              </a:rPr>
              <a:t>public int compareTo(E o);</a:t>
            </a:r>
          </a:p>
          <a:p>
            <a:pPr>
              <a:spcAft>
                <a:spcPts val="1200"/>
              </a:spcAft>
              <a:buFont typeface="Monotype Sorts"/>
              <a:buNone/>
            </a:pPr>
            <a:r>
              <a:rPr lang="en-US" altLang="en-US" b="1" dirty="0">
                <a:solidFill>
                  <a:schemeClr val="tx1"/>
                </a:solidFill>
                <a:latin typeface="Courier New" panose="02070309020205020404" pitchFamily="49" charset="0"/>
              </a:rPr>
              <a:t>}</a:t>
            </a:r>
            <a:endParaRPr lang="en-US" altLang="en-US" b="1" u="sng" dirty="0">
              <a:solidFill>
                <a:schemeClr val="tx1"/>
              </a:solidFill>
              <a:latin typeface="Courier"/>
            </a:endParaRPr>
          </a:p>
        </p:txBody>
      </p:sp>
    </p:spTree>
    <p:extLst>
      <p:ext uri="{BB962C8B-B14F-4D97-AF65-F5344CB8AC3E}">
        <p14:creationId xmlns:p14="http://schemas.microsoft.com/office/powerpoint/2010/main" val="304873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D1BFA-54D5-4762-86C2-E1AD80341A12}"/>
              </a:ext>
            </a:extLst>
          </p:cNvPr>
          <p:cNvSpPr>
            <a:spLocks noGrp="1"/>
          </p:cNvSpPr>
          <p:nvPr>
            <p:ph type="title"/>
          </p:nvPr>
        </p:nvSpPr>
        <p:spPr>
          <a:xfrm>
            <a:off x="457200" y="215371"/>
            <a:ext cx="8218488" cy="1097279"/>
          </a:xfrm>
        </p:spPr>
        <p:txBody>
          <a:bodyPr/>
          <a:lstStyle/>
          <a:p>
            <a:r>
              <a:rPr lang="en-US" altLang="en-US" sz="3200" dirty="0">
                <a:cs typeface="Times New Roman" panose="02020603050405020304" pitchFamily="18" charset="0"/>
              </a:rPr>
              <a:t>The </a:t>
            </a:r>
            <a:r>
              <a:rPr lang="en-US" altLang="en-US" sz="3200" dirty="0">
                <a:latin typeface="Courier New" panose="02070309020205020404" pitchFamily="49" charset="0"/>
                <a:cs typeface="Courier New" panose="02070309020205020404" pitchFamily="49" charset="0"/>
              </a:rPr>
              <a:t>toString</a:t>
            </a:r>
            <a:r>
              <a:rPr lang="en-US" altLang="en-US" sz="3200" dirty="0">
                <a:cs typeface="Times New Roman" panose="02020603050405020304" pitchFamily="18" charset="0"/>
              </a:rPr>
              <a:t>, </a:t>
            </a:r>
            <a:r>
              <a:rPr lang="en-US" altLang="en-US" sz="3200" dirty="0">
                <a:latin typeface="Courier New" panose="02070309020205020404" pitchFamily="49" charset="0"/>
                <a:cs typeface="Courier New" panose="02070309020205020404" pitchFamily="49" charset="0"/>
              </a:rPr>
              <a:t>equals</a:t>
            </a:r>
            <a:r>
              <a:rPr lang="en-US" altLang="en-US" sz="3200" dirty="0">
                <a:cs typeface="Times New Roman" panose="02020603050405020304" pitchFamily="18" charset="0"/>
              </a:rPr>
              <a:t>, and </a:t>
            </a:r>
            <a:r>
              <a:rPr lang="en-US" altLang="en-US" sz="3200" dirty="0">
                <a:latin typeface="Courier New" panose="02070309020205020404" pitchFamily="49" charset="0"/>
                <a:cs typeface="Courier New" panose="02070309020205020404" pitchFamily="49" charset="0"/>
              </a:rPr>
              <a:t>hashCode</a:t>
            </a:r>
            <a:r>
              <a:rPr lang="en-US" altLang="en-US" sz="3200" dirty="0">
                <a:cs typeface="Times New Roman" panose="02020603050405020304" pitchFamily="18" charset="0"/>
              </a:rPr>
              <a:t> Methods</a:t>
            </a:r>
            <a:endParaRPr lang="en-US" sz="3200" dirty="0"/>
          </a:p>
        </p:txBody>
      </p:sp>
      <p:sp>
        <p:nvSpPr>
          <p:cNvPr id="3" name="Content Placeholder 2">
            <a:extLst>
              <a:ext uri="{FF2B5EF4-FFF2-40B4-BE49-F238E27FC236}">
                <a16:creationId xmlns:a16="http://schemas.microsoft.com/office/drawing/2014/main" id="{37702E9B-A755-49AD-90D6-8E921483A5E2}"/>
              </a:ext>
            </a:extLst>
          </p:cNvPr>
          <p:cNvSpPr>
            <a:spLocks noGrp="1"/>
          </p:cNvSpPr>
          <p:nvPr>
            <p:ph sz="quarter" idx="13"/>
          </p:nvPr>
        </p:nvSpPr>
        <p:spPr>
          <a:xfrm>
            <a:off x="457200" y="1554920"/>
            <a:ext cx="8232775" cy="2016000"/>
          </a:xfrm>
        </p:spPr>
        <p:txBody>
          <a:bodyPr/>
          <a:lstStyle/>
          <a:p>
            <a:pPr marL="432" indent="0">
              <a:buNone/>
            </a:pPr>
            <a:r>
              <a:rPr lang="en-US" altLang="en-US" dirty="0">
                <a:cs typeface="Times New Roman" panose="02020603050405020304" pitchFamily="18" charset="0"/>
              </a:rPr>
              <a:t>Each wrapper class overrides the </a:t>
            </a:r>
            <a:r>
              <a:rPr lang="en-US" altLang="en-US" dirty="0">
                <a:latin typeface="Courier New" panose="02070309020205020404" pitchFamily="49" charset="0"/>
                <a:cs typeface="Courier New" panose="02070309020205020404" pitchFamily="49" charset="0"/>
              </a:rPr>
              <a:t>toString</a:t>
            </a:r>
            <a:r>
              <a:rPr lang="en-US" altLang="en-US" dirty="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equals</a:t>
            </a:r>
            <a:r>
              <a:rPr lang="en-US" altLang="en-US" dirty="0">
                <a:cs typeface="Times New Roman" panose="02020603050405020304" pitchFamily="18" charset="0"/>
              </a:rPr>
              <a:t>, and </a:t>
            </a:r>
            <a:r>
              <a:rPr lang="en-US" altLang="en-US" dirty="0">
                <a:latin typeface="Courier New" panose="02070309020205020404" pitchFamily="49" charset="0"/>
                <a:cs typeface="Courier New" panose="02070309020205020404" pitchFamily="49" charset="0"/>
              </a:rPr>
              <a:t>hashCode </a:t>
            </a:r>
            <a:r>
              <a:rPr lang="en-US" altLang="en-US" dirty="0">
                <a:cs typeface="Times New Roman" panose="02020603050405020304" pitchFamily="18" charset="0"/>
              </a:rPr>
              <a:t>methods defined in the Object class. Since all the numeric wrapper classes and the Character class implement the Comparable interface, the </a:t>
            </a:r>
            <a:r>
              <a:rPr lang="en-US" altLang="en-US" dirty="0">
                <a:cs typeface="Courier New" panose="02070309020205020404" pitchFamily="49" charset="0"/>
              </a:rPr>
              <a:t>compareTo</a:t>
            </a:r>
            <a:r>
              <a:rPr lang="en-US" altLang="en-US" dirty="0">
                <a:cs typeface="Times New Roman" panose="02020603050405020304" pitchFamily="18" charset="0"/>
              </a:rPr>
              <a:t> method is implemented in these classes.</a:t>
            </a:r>
          </a:p>
        </p:txBody>
      </p:sp>
    </p:spTree>
    <p:extLst>
      <p:ext uri="{BB962C8B-B14F-4D97-AF65-F5344CB8AC3E}">
        <p14:creationId xmlns:p14="http://schemas.microsoft.com/office/powerpoint/2010/main" val="564626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42084-3DA4-4E1A-8222-C80E8E4892B7}"/>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Integer</a:t>
            </a:r>
            <a:r>
              <a:rPr lang="en-US" dirty="0"/>
              <a:t> and </a:t>
            </a:r>
            <a:r>
              <a:rPr lang="en-US" dirty="0">
                <a:latin typeface="Courier New" panose="02070309020205020404" pitchFamily="49" charset="0"/>
                <a:cs typeface="Courier New" panose="02070309020205020404" pitchFamily="49" charset="0"/>
              </a:rPr>
              <a:t>BigInteger</a:t>
            </a:r>
            <a:r>
              <a:rPr lang="en-US" dirty="0"/>
              <a:t> Classes</a:t>
            </a:r>
          </a:p>
        </p:txBody>
      </p:sp>
      <p:pic>
        <p:nvPicPr>
          <p:cNvPr id="9" name="Picture 8" descr="The computer code shows the Integer and BigInteger Classes on the top the page. For long description in Notes pane, press F6.">
            <a:extLst>
              <a:ext uri="{FF2B5EF4-FFF2-40B4-BE49-F238E27FC236}">
                <a16:creationId xmlns:a16="http://schemas.microsoft.com/office/drawing/2014/main" id="{FAF02220-305A-4C55-A75D-437080913907}"/>
              </a:ext>
            </a:extLst>
          </p:cNvPr>
          <p:cNvPicPr>
            <a:picLocks noChangeAspect="1"/>
          </p:cNvPicPr>
          <p:nvPr/>
        </p:nvPicPr>
        <p:blipFill>
          <a:blip r:embed="rId3"/>
          <a:stretch>
            <a:fillRect/>
          </a:stretch>
        </p:blipFill>
        <p:spPr>
          <a:xfrm>
            <a:off x="780521" y="1648930"/>
            <a:ext cx="7582958" cy="1943371"/>
          </a:xfrm>
          <a:prstGeom prst="rect">
            <a:avLst/>
          </a:prstGeom>
        </p:spPr>
      </p:pic>
      <p:sp>
        <p:nvSpPr>
          <p:cNvPr id="4" name="Content Placeholder 3">
            <a:extLst>
              <a:ext uri="{FF2B5EF4-FFF2-40B4-BE49-F238E27FC236}">
                <a16:creationId xmlns:a16="http://schemas.microsoft.com/office/drawing/2014/main" id="{31B17A59-C32F-4DB8-8E68-70421B4AA5FE}"/>
              </a:ext>
            </a:extLst>
          </p:cNvPr>
          <p:cNvSpPr>
            <a:spLocks noGrp="1"/>
          </p:cNvSpPr>
          <p:nvPr>
            <p:ph sz="quarter" idx="14"/>
          </p:nvPr>
        </p:nvSpPr>
        <p:spPr>
          <a:xfrm>
            <a:off x="457200" y="3691611"/>
            <a:ext cx="3600000" cy="432000"/>
          </a:xfrm>
        </p:spPr>
        <p:txBody>
          <a:bodyPr tIns="0"/>
          <a:lstStyle/>
          <a:p>
            <a:pPr marL="432" indent="0">
              <a:buNone/>
            </a:pPr>
            <a:r>
              <a:rPr lang="en-US" altLang="en-US">
                <a:solidFill>
                  <a:schemeClr val="tx1"/>
                </a:solidFill>
              </a:rPr>
              <a:t>String and Date Classes</a:t>
            </a:r>
          </a:p>
        </p:txBody>
      </p:sp>
      <p:pic>
        <p:nvPicPr>
          <p:cNvPr id="11" name="Picture 10" descr="The computer code shows the String and Date Classes on the bottom of the page. For long description in Notes pane, press F6.">
            <a:extLst>
              <a:ext uri="{FF2B5EF4-FFF2-40B4-BE49-F238E27FC236}">
                <a16:creationId xmlns:a16="http://schemas.microsoft.com/office/drawing/2014/main" id="{601F6A64-8AF3-4740-9905-FF3FAF688E97}"/>
              </a:ext>
            </a:extLst>
          </p:cNvPr>
          <p:cNvPicPr>
            <a:picLocks noChangeAspect="1"/>
          </p:cNvPicPr>
          <p:nvPr/>
        </p:nvPicPr>
        <p:blipFill>
          <a:blip r:embed="rId4"/>
          <a:stretch>
            <a:fillRect/>
          </a:stretch>
        </p:blipFill>
        <p:spPr>
          <a:xfrm>
            <a:off x="786879" y="4217372"/>
            <a:ext cx="7468642" cy="1905266"/>
          </a:xfrm>
          <a:prstGeom prst="rect">
            <a:avLst/>
          </a:prstGeom>
        </p:spPr>
      </p:pic>
    </p:spTree>
    <p:extLst>
      <p:ext uri="{BB962C8B-B14F-4D97-AF65-F5344CB8AC3E}">
        <p14:creationId xmlns:p14="http://schemas.microsoft.com/office/powerpoint/2010/main" val="697991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3F0C1B-F61F-445B-AA2E-CDFB33DB29D5}"/>
              </a:ext>
            </a:extLst>
          </p:cNvPr>
          <p:cNvSpPr>
            <a:spLocks noGrp="1"/>
          </p:cNvSpPr>
          <p:nvPr>
            <p:ph type="title"/>
          </p:nvPr>
        </p:nvSpPr>
        <p:spPr>
          <a:xfrm>
            <a:off x="461296" y="215371"/>
            <a:ext cx="8188992" cy="1097279"/>
          </a:xfrm>
        </p:spPr>
        <p:txBody>
          <a:bodyPr/>
          <a:lstStyle/>
          <a:p>
            <a:r>
              <a:rPr lang="en-US" dirty="0"/>
              <a:t>Example </a:t>
            </a:r>
            <a:r>
              <a:rPr lang="en-US" sz="2000" b="0" dirty="0"/>
              <a:t>(2 of 2) </a:t>
            </a:r>
            <a:endParaRPr lang="en-US" dirty="0"/>
          </a:p>
        </p:txBody>
      </p:sp>
      <p:sp>
        <p:nvSpPr>
          <p:cNvPr id="6" name="Content Placeholder 5">
            <a:extLst>
              <a:ext uri="{FF2B5EF4-FFF2-40B4-BE49-F238E27FC236}">
                <a16:creationId xmlns:a16="http://schemas.microsoft.com/office/drawing/2014/main" id="{17AC09FE-742E-452E-ACA0-A4F47C6020C3}"/>
              </a:ext>
            </a:extLst>
          </p:cNvPr>
          <p:cNvSpPr>
            <a:spLocks noGrp="1"/>
          </p:cNvSpPr>
          <p:nvPr>
            <p:ph sz="quarter" idx="13"/>
          </p:nvPr>
        </p:nvSpPr>
        <p:spPr>
          <a:xfrm>
            <a:off x="461297" y="1526922"/>
            <a:ext cx="8188992" cy="2160000"/>
          </a:xfrm>
        </p:spPr>
        <p:txBody>
          <a:bodyPr/>
          <a:lstStyle/>
          <a:p>
            <a:pPr marL="432000" indent="-432000">
              <a:buFont typeface="+mj-lt"/>
              <a:buAutoNum type="arabicPeriod"/>
            </a:pPr>
            <a:r>
              <a:rPr lang="en-US" sz="1600" dirty="0">
                <a:latin typeface="Courier New" panose="02070309020205020404" pitchFamily="49" charset="0"/>
                <a:cs typeface="Courier New" panose="02070309020205020404" pitchFamily="49" charset="0"/>
              </a:rPr>
              <a:t>System.out.println(new Integer(3).compareTo(new Integer(5)));</a:t>
            </a:r>
          </a:p>
          <a:p>
            <a:pPr marL="432000" indent="-432000">
              <a:buFont typeface="+mj-lt"/>
              <a:buAutoNum type="arabicPeriod"/>
            </a:pPr>
            <a:r>
              <a:rPr lang="en-US" sz="1600" dirty="0">
                <a:latin typeface="Courier New" panose="02070309020205020404" pitchFamily="49" charset="0"/>
                <a:cs typeface="Courier New" panose="02070309020205020404" pitchFamily="49" charset="0"/>
              </a:rPr>
              <a:t>System.out.println("</a:t>
            </a:r>
            <a:r>
              <a:rPr lang="en-US" sz="1600" b="1" dirty="0" err="1">
                <a:latin typeface="Courier New" panose="02070309020205020404" pitchFamily="49" charset="0"/>
                <a:cs typeface="Courier New" panose="02070309020205020404" pitchFamily="49" charset="0"/>
              </a:rPr>
              <a:t>ABC</a:t>
            </a:r>
            <a:r>
              <a:rPr lang="en-US" sz="1600" dirty="0" err="1">
                <a:latin typeface="Courier New" panose="02070309020205020404" pitchFamily="49" charset="0"/>
                <a:cs typeface="Courier New" panose="02070309020205020404" pitchFamily="49" charset="0"/>
              </a:rPr>
              <a:t>".compareTo</a:t>
            </a:r>
            <a:r>
              <a:rPr lang="en-US" sz="1600" dirty="0">
                <a:latin typeface="Courier New" panose="02070309020205020404" pitchFamily="49" charset="0"/>
                <a:cs typeface="Courier New" panose="02070309020205020404" pitchFamily="49" charset="0"/>
              </a:rPr>
              <a:t>("</a:t>
            </a:r>
            <a:r>
              <a:rPr lang="en-US" sz="1600" b="1" dirty="0">
                <a:latin typeface="Courier New" panose="02070309020205020404" pitchFamily="49" charset="0"/>
                <a:cs typeface="Courier New" panose="02070309020205020404" pitchFamily="49" charset="0"/>
              </a:rPr>
              <a:t>ABE</a:t>
            </a:r>
            <a:r>
              <a:rPr lang="en-US" sz="1600" dirty="0">
                <a:latin typeface="Courier New" panose="02070309020205020404" pitchFamily="49" charset="0"/>
                <a:cs typeface="Courier New" panose="02070309020205020404" pitchFamily="49" charset="0"/>
              </a:rPr>
              <a:t>"));</a:t>
            </a:r>
          </a:p>
          <a:p>
            <a:pPr marL="432000" indent="-432000">
              <a:buFont typeface="+mj-lt"/>
              <a:buAutoNum type="arabicPeriod"/>
            </a:pPr>
            <a:r>
              <a:rPr lang="en-US" sz="1600" dirty="0">
                <a:latin typeface="Courier New" panose="02070309020205020404" pitchFamily="49" charset="0"/>
                <a:cs typeface="Courier New" panose="02070309020205020404" pitchFamily="49" charset="0"/>
              </a:rPr>
              <a:t>java.util.Date date1 = </a:t>
            </a:r>
            <a:r>
              <a:rPr lang="en-US" sz="1600" b="1" dirty="0">
                <a:latin typeface="Courier New" panose="02070309020205020404" pitchFamily="49" charset="0"/>
                <a:cs typeface="Courier New" panose="02070309020205020404" pitchFamily="49" charset="0"/>
              </a:rPr>
              <a:t>new </a:t>
            </a:r>
            <a:r>
              <a:rPr lang="en-US" sz="1600" dirty="0">
                <a:latin typeface="Courier New" panose="02070309020205020404" pitchFamily="49" charset="0"/>
                <a:cs typeface="Courier New" panose="02070309020205020404" pitchFamily="49" charset="0"/>
              </a:rPr>
              <a:t>java.util.Date(</a:t>
            </a:r>
            <a:r>
              <a:rPr lang="en-US" sz="1600" b="1" dirty="0">
                <a:latin typeface="Courier New" panose="02070309020205020404" pitchFamily="49" charset="0"/>
                <a:cs typeface="Courier New" panose="02070309020205020404" pitchFamily="49" charset="0"/>
              </a:rPr>
              <a:t>2013</a:t>
            </a:r>
            <a:r>
              <a:rPr lang="en-US" sz="1600" dirty="0">
                <a:latin typeface="Courier New" panose="02070309020205020404" pitchFamily="49" charset="0"/>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1</a:t>
            </a:r>
            <a:r>
              <a:rPr lang="en-US" sz="1600" dirty="0">
                <a:latin typeface="Courier New" panose="02070309020205020404" pitchFamily="49" charset="0"/>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1</a:t>
            </a:r>
            <a:r>
              <a:rPr lang="en-US" sz="1600" dirty="0">
                <a:latin typeface="Courier New" panose="02070309020205020404" pitchFamily="49" charset="0"/>
                <a:cs typeface="Courier New" panose="02070309020205020404" pitchFamily="49" charset="0"/>
              </a:rPr>
              <a:t>);</a:t>
            </a:r>
          </a:p>
          <a:p>
            <a:pPr marL="432000" indent="-432000">
              <a:buFont typeface="+mj-lt"/>
              <a:buAutoNum type="arabicPeriod"/>
            </a:pPr>
            <a:r>
              <a:rPr lang="en-US" sz="1600" dirty="0">
                <a:latin typeface="Courier New" panose="02070309020205020404" pitchFamily="49" charset="0"/>
                <a:cs typeface="Courier New" panose="02070309020205020404" pitchFamily="49" charset="0"/>
              </a:rPr>
              <a:t>java.util.Date date2 = </a:t>
            </a:r>
            <a:r>
              <a:rPr lang="en-US" sz="1600" b="1" dirty="0">
                <a:latin typeface="Courier New" panose="02070309020205020404" pitchFamily="49" charset="0"/>
                <a:cs typeface="Courier New" panose="02070309020205020404" pitchFamily="49" charset="0"/>
              </a:rPr>
              <a:t>new</a:t>
            </a:r>
            <a:r>
              <a:rPr lang="en-US" sz="1600" dirty="0">
                <a:latin typeface="Courier New" panose="02070309020205020404" pitchFamily="49" charset="0"/>
                <a:cs typeface="Courier New" panose="02070309020205020404" pitchFamily="49" charset="0"/>
              </a:rPr>
              <a:t> java.util.Date(</a:t>
            </a:r>
            <a:r>
              <a:rPr lang="en-US" sz="1600" b="1" dirty="0">
                <a:latin typeface="Courier New" panose="02070309020205020404" pitchFamily="49" charset="0"/>
                <a:cs typeface="Courier New" panose="02070309020205020404" pitchFamily="49" charset="0"/>
              </a:rPr>
              <a:t>2012</a:t>
            </a:r>
            <a:r>
              <a:rPr lang="en-US" sz="1600" dirty="0">
                <a:latin typeface="Courier New" panose="02070309020205020404" pitchFamily="49" charset="0"/>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1</a:t>
            </a:r>
            <a:r>
              <a:rPr lang="en-US" sz="1600" dirty="0">
                <a:latin typeface="Courier New" panose="02070309020205020404" pitchFamily="49" charset="0"/>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1</a:t>
            </a:r>
            <a:r>
              <a:rPr lang="en-US" sz="1600" dirty="0">
                <a:latin typeface="Courier New" panose="02070309020205020404" pitchFamily="49" charset="0"/>
                <a:cs typeface="Courier New" panose="02070309020205020404" pitchFamily="49" charset="0"/>
              </a:rPr>
              <a:t>);</a:t>
            </a:r>
          </a:p>
          <a:p>
            <a:pPr marL="432000" indent="-432000">
              <a:buFont typeface="+mj-lt"/>
              <a:buAutoNum type="arabicPeriod"/>
            </a:pPr>
            <a:r>
              <a:rPr lang="en-US" sz="1600" dirty="0">
                <a:latin typeface="Courier New" panose="02070309020205020404" pitchFamily="49" charset="0"/>
                <a:cs typeface="Courier New" panose="02070309020205020404" pitchFamily="49" charset="0"/>
              </a:rPr>
              <a:t>System.out.println(date1.compareTo(date2));</a:t>
            </a:r>
          </a:p>
        </p:txBody>
      </p:sp>
    </p:spTree>
    <p:extLst>
      <p:ext uri="{BB962C8B-B14F-4D97-AF65-F5344CB8AC3E}">
        <p14:creationId xmlns:p14="http://schemas.microsoft.com/office/powerpoint/2010/main" val="1870196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C36E1-8C9B-47A3-93BF-614FD25B567C}"/>
              </a:ext>
            </a:extLst>
          </p:cNvPr>
          <p:cNvSpPr>
            <a:spLocks noGrp="1"/>
          </p:cNvSpPr>
          <p:nvPr>
            <p:ph type="title"/>
          </p:nvPr>
        </p:nvSpPr>
        <p:spPr>
          <a:xfrm>
            <a:off x="470452" y="215371"/>
            <a:ext cx="8205236" cy="1097279"/>
          </a:xfrm>
        </p:spPr>
        <p:txBody>
          <a:bodyPr/>
          <a:lstStyle/>
          <a:p>
            <a:r>
              <a:rPr lang="en-US" sz="3200" dirty="0"/>
              <a:t>Defining Classes to Implement Comparable</a:t>
            </a:r>
          </a:p>
        </p:txBody>
      </p:sp>
      <p:pic>
        <p:nvPicPr>
          <p:cNvPr id="6" name="Picture 5" descr="The Object shows the Defining Classes to Implement Comparable. For long description in Notes pane, press F6.">
            <a:extLst>
              <a:ext uri="{FF2B5EF4-FFF2-40B4-BE49-F238E27FC236}">
                <a16:creationId xmlns:a16="http://schemas.microsoft.com/office/drawing/2014/main" id="{C2283E76-1769-41EA-881F-68F880D3BDF6}"/>
              </a:ext>
            </a:extLst>
          </p:cNvPr>
          <p:cNvPicPr>
            <a:picLocks noChangeAspect="1"/>
          </p:cNvPicPr>
          <p:nvPr/>
        </p:nvPicPr>
        <p:blipFill>
          <a:blip r:embed="rId3"/>
          <a:stretch>
            <a:fillRect/>
          </a:stretch>
        </p:blipFill>
        <p:spPr>
          <a:xfrm>
            <a:off x="809981" y="2075339"/>
            <a:ext cx="7524037" cy="2362769"/>
          </a:xfrm>
          <a:prstGeom prst="rect">
            <a:avLst/>
          </a:prstGeom>
        </p:spPr>
      </p:pic>
      <p:sp>
        <p:nvSpPr>
          <p:cNvPr id="10" name="Text Placeholder 9">
            <a:extLst>
              <a:ext uri="{FF2B5EF4-FFF2-40B4-BE49-F238E27FC236}">
                <a16:creationId xmlns:a16="http://schemas.microsoft.com/office/drawing/2014/main" id="{B095FEFB-BC2E-4402-A915-F8E5B10FEF02}"/>
              </a:ext>
            </a:extLst>
          </p:cNvPr>
          <p:cNvSpPr>
            <a:spLocks noGrp="1"/>
          </p:cNvSpPr>
          <p:nvPr>
            <p:ph type="body" sz="quarter" idx="20"/>
          </p:nvPr>
        </p:nvSpPr>
        <p:spPr>
          <a:xfrm>
            <a:off x="1026248" y="4897514"/>
            <a:ext cx="3276000" cy="468000"/>
          </a:xfrm>
        </p:spPr>
        <p:txBody>
          <a:bodyPr tIns="0"/>
          <a:lstStyle/>
          <a:p>
            <a:pPr marL="432" indent="0">
              <a:buNone/>
            </a:pPr>
            <a:r>
              <a:rPr lang="en-US" altLang="en-US" dirty="0">
                <a:hlinkClick r:id="rId4" tooltip="https://liveexample.pearsoncmg.com/html/ComparableRectangle.html"/>
              </a:rPr>
              <a:t>ComparableRectangle</a:t>
            </a:r>
          </a:p>
        </p:txBody>
      </p:sp>
      <p:sp>
        <p:nvSpPr>
          <p:cNvPr id="11" name="Text Placeholder 10">
            <a:extLst>
              <a:ext uri="{FF2B5EF4-FFF2-40B4-BE49-F238E27FC236}">
                <a16:creationId xmlns:a16="http://schemas.microsoft.com/office/drawing/2014/main" id="{7241F333-E698-436B-A591-B09C1A549E78}"/>
              </a:ext>
            </a:extLst>
          </p:cNvPr>
          <p:cNvSpPr>
            <a:spLocks noGrp="1"/>
          </p:cNvSpPr>
          <p:nvPr>
            <p:ph type="body" sz="quarter" idx="21"/>
          </p:nvPr>
        </p:nvSpPr>
        <p:spPr>
          <a:xfrm>
            <a:off x="5338916" y="4891600"/>
            <a:ext cx="2330245" cy="468000"/>
          </a:xfrm>
        </p:spPr>
        <p:txBody>
          <a:bodyPr tIns="0"/>
          <a:lstStyle/>
          <a:p>
            <a:pPr marL="432" indent="0">
              <a:buNone/>
            </a:pPr>
            <a:r>
              <a:rPr lang="en-US" altLang="en-US" dirty="0">
                <a:hlinkClick r:id="rId5" tooltip="https://liveexample.pearsoncmg.com/html/SortRectangles.html"/>
              </a:rPr>
              <a:t>SortRectangles</a:t>
            </a:r>
          </a:p>
        </p:txBody>
      </p:sp>
    </p:spTree>
    <p:extLst>
      <p:ext uri="{BB962C8B-B14F-4D97-AF65-F5344CB8AC3E}">
        <p14:creationId xmlns:p14="http://schemas.microsoft.com/office/powerpoint/2010/main" val="4134206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D459B-61FF-42E8-8556-D323908260A6}"/>
              </a:ext>
            </a:extLst>
          </p:cNvPr>
          <p:cNvSpPr>
            <a:spLocks noGrp="1"/>
          </p:cNvSpPr>
          <p:nvPr>
            <p:ph type="title"/>
          </p:nvPr>
        </p:nvSpPr>
        <p:spPr>
          <a:xfrm>
            <a:off x="457200" y="215371"/>
            <a:ext cx="8218488" cy="1097279"/>
          </a:xfrm>
        </p:spPr>
        <p:txBody>
          <a:bodyPr/>
          <a:lstStyle/>
          <a:p>
            <a:r>
              <a:rPr lang="en-US" altLang="en-US" dirty="0"/>
              <a:t>The </a:t>
            </a:r>
            <a:r>
              <a:rPr lang="en-US" altLang="en-US" dirty="0">
                <a:latin typeface="Courier New" panose="02070309020205020404" pitchFamily="49" charset="0"/>
              </a:rPr>
              <a:t>Cloneable</a:t>
            </a:r>
            <a:r>
              <a:rPr lang="en-US" altLang="en-US" dirty="0"/>
              <a:t> Interfaces</a:t>
            </a:r>
            <a:endParaRPr lang="en-US" dirty="0"/>
          </a:p>
        </p:txBody>
      </p:sp>
      <p:sp>
        <p:nvSpPr>
          <p:cNvPr id="3" name="Content Placeholder 2">
            <a:extLst>
              <a:ext uri="{FF2B5EF4-FFF2-40B4-BE49-F238E27FC236}">
                <a16:creationId xmlns:a16="http://schemas.microsoft.com/office/drawing/2014/main" id="{C6D4D1E8-8C8E-46CF-B289-F1F40114C828}"/>
              </a:ext>
            </a:extLst>
          </p:cNvPr>
          <p:cNvSpPr>
            <a:spLocks noGrp="1"/>
          </p:cNvSpPr>
          <p:nvPr>
            <p:ph sz="quarter" idx="13"/>
          </p:nvPr>
        </p:nvSpPr>
        <p:spPr>
          <a:xfrm>
            <a:off x="457200" y="1556327"/>
            <a:ext cx="8222974" cy="2952000"/>
          </a:xfrm>
        </p:spPr>
        <p:txBody>
          <a:bodyPr/>
          <a:lstStyle/>
          <a:p>
            <a:pPr marL="0" lvl="1" indent="0">
              <a:spcAft>
                <a:spcPts val="1200"/>
              </a:spcAft>
              <a:buFontTx/>
              <a:buNone/>
            </a:pPr>
            <a:r>
              <a:rPr lang="en-US" altLang="en-US" dirty="0"/>
              <a:t>Marker Interface: An empty interface.</a:t>
            </a:r>
          </a:p>
          <a:p>
            <a:pPr marL="0" lvl="1" indent="0">
              <a:spcAft>
                <a:spcPts val="1200"/>
              </a:spcAft>
              <a:buFontTx/>
              <a:buNone/>
            </a:pPr>
            <a:r>
              <a:rPr lang="en-US" altLang="en-US" dirty="0">
                <a:cs typeface="Courier New" panose="02070309020205020404" pitchFamily="49" charset="0"/>
              </a:rPr>
              <a:t>A marker interface does not contain constants or methods. It is used to denote that a class possesses certain desirable properties. A class that implements the </a:t>
            </a:r>
            <a:r>
              <a:rPr lang="en-US" altLang="en-US" b="1" dirty="0">
                <a:latin typeface="Courier New" panose="02070309020205020404" pitchFamily="49" charset="0"/>
                <a:cs typeface="Courier New" panose="02070309020205020404" pitchFamily="49" charset="0"/>
              </a:rPr>
              <a:t>Cloneable</a:t>
            </a:r>
            <a:r>
              <a:rPr lang="en-US" altLang="en-US" dirty="0">
                <a:cs typeface="Courier New" panose="02070309020205020404" pitchFamily="49" charset="0"/>
              </a:rPr>
              <a:t> interface is marked cloneable, and its objects can be cloned using the </a:t>
            </a:r>
            <a:r>
              <a:rPr lang="en-US" altLang="en-US" b="1" dirty="0">
                <a:latin typeface="Courier New" panose="02070309020205020404" pitchFamily="49" charset="0"/>
                <a:cs typeface="Courier New" panose="02070309020205020404" pitchFamily="49" charset="0"/>
              </a:rPr>
              <a:t>clone()</a:t>
            </a:r>
            <a:r>
              <a:rPr lang="en-US" altLang="en-US" dirty="0">
                <a:latin typeface="Courier New" panose="02070309020205020404" pitchFamily="49" charset="0"/>
                <a:cs typeface="Courier New" panose="02070309020205020404" pitchFamily="49" charset="0"/>
              </a:rPr>
              <a:t> </a:t>
            </a:r>
            <a:r>
              <a:rPr lang="en-US" altLang="en-US" dirty="0">
                <a:cs typeface="Courier New" panose="02070309020205020404" pitchFamily="49" charset="0"/>
              </a:rPr>
              <a:t>method defined in the </a:t>
            </a:r>
            <a:r>
              <a:rPr lang="en-US" altLang="en-US" b="1" dirty="0">
                <a:latin typeface="Courier New" panose="02070309020205020404" pitchFamily="49" charset="0"/>
                <a:cs typeface="Courier New" panose="02070309020205020404" pitchFamily="49" charset="0"/>
              </a:rPr>
              <a:t>Object</a:t>
            </a:r>
            <a:r>
              <a:rPr lang="en-US" altLang="en-US" dirty="0">
                <a:cs typeface="Courier New" panose="02070309020205020404" pitchFamily="49" charset="0"/>
              </a:rPr>
              <a:t> class.</a:t>
            </a:r>
          </a:p>
        </p:txBody>
      </p:sp>
      <p:sp>
        <p:nvSpPr>
          <p:cNvPr id="4" name="Content Placeholder 3">
            <a:extLst>
              <a:ext uri="{FF2B5EF4-FFF2-40B4-BE49-F238E27FC236}">
                <a16:creationId xmlns:a16="http://schemas.microsoft.com/office/drawing/2014/main" id="{EA4C31AD-F78C-4CB1-99A8-E0F06E9F337A}"/>
              </a:ext>
            </a:extLst>
          </p:cNvPr>
          <p:cNvSpPr>
            <a:spLocks noGrp="1"/>
          </p:cNvSpPr>
          <p:nvPr>
            <p:ph sz="quarter" idx="14"/>
          </p:nvPr>
        </p:nvSpPr>
        <p:spPr>
          <a:xfrm>
            <a:off x="457200" y="4637503"/>
            <a:ext cx="8218488" cy="1296000"/>
          </a:xfrm>
        </p:spPr>
        <p:txBody>
          <a:bodyPr tIns="0"/>
          <a:lstStyle/>
          <a:p>
            <a:pPr marL="0" lvl="1" indent="0">
              <a:buFontTx/>
              <a:buNone/>
            </a:pPr>
            <a:r>
              <a:rPr lang="en-US" altLang="en-US" dirty="0">
                <a:latin typeface="Courier New" panose="02070309020205020404" pitchFamily="49" charset="0"/>
              </a:rPr>
              <a:t>package </a:t>
            </a:r>
            <a:r>
              <a:rPr lang="en-US" altLang="en-US" dirty="0" err="1">
                <a:latin typeface="Courier New" panose="02070309020205020404" pitchFamily="49" charset="0"/>
              </a:rPr>
              <a:t>java.lang</a:t>
            </a:r>
            <a:r>
              <a:rPr lang="en-US" altLang="en-US" dirty="0">
                <a:latin typeface="Courier New" panose="02070309020205020404" pitchFamily="49" charset="0"/>
              </a:rPr>
              <a:t>;</a:t>
            </a:r>
          </a:p>
          <a:p>
            <a:pPr marL="0" lvl="1" indent="0">
              <a:buFontTx/>
              <a:buNone/>
            </a:pPr>
            <a:r>
              <a:rPr lang="en-US" altLang="en-US" dirty="0">
                <a:latin typeface="Courier New" panose="02070309020205020404" pitchFamily="49" charset="0"/>
              </a:rPr>
              <a:t>public interface Cloneable {</a:t>
            </a:r>
          </a:p>
          <a:p>
            <a:pPr marL="0" lvl="1" indent="0">
              <a:buFontTx/>
              <a:buNone/>
            </a:pPr>
            <a:r>
              <a:rPr lang="en-US" altLang="en-US" dirty="0">
                <a:latin typeface="Courier New" panose="02070309020205020404" pitchFamily="49" charset="0"/>
              </a:rPr>
              <a:t>}</a:t>
            </a:r>
          </a:p>
        </p:txBody>
      </p:sp>
    </p:spTree>
    <p:extLst>
      <p:ext uri="{BB962C8B-B14F-4D97-AF65-F5344CB8AC3E}">
        <p14:creationId xmlns:p14="http://schemas.microsoft.com/office/powerpoint/2010/main" val="1713478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8B5A8-8328-40BB-8713-09F64E69F0FF}"/>
              </a:ext>
            </a:extLst>
          </p:cNvPr>
          <p:cNvSpPr>
            <a:spLocks noGrp="1"/>
          </p:cNvSpPr>
          <p:nvPr>
            <p:ph type="title"/>
          </p:nvPr>
        </p:nvSpPr>
        <p:spPr>
          <a:xfrm>
            <a:off x="470452" y="215371"/>
            <a:ext cx="8205236" cy="1097279"/>
          </a:xfrm>
        </p:spPr>
        <p:txBody>
          <a:bodyPr/>
          <a:lstStyle/>
          <a:p>
            <a:r>
              <a:rPr lang="en-US" dirty="0"/>
              <a:t>Note</a:t>
            </a:r>
          </a:p>
        </p:txBody>
      </p:sp>
      <p:sp>
        <p:nvSpPr>
          <p:cNvPr id="3" name="Content Placeholder 2">
            <a:extLst>
              <a:ext uri="{FF2B5EF4-FFF2-40B4-BE49-F238E27FC236}">
                <a16:creationId xmlns:a16="http://schemas.microsoft.com/office/drawing/2014/main" id="{2C8FF851-4F2B-456A-9228-EF9C8650F525}"/>
              </a:ext>
            </a:extLst>
          </p:cNvPr>
          <p:cNvSpPr>
            <a:spLocks noGrp="1"/>
          </p:cNvSpPr>
          <p:nvPr>
            <p:ph sz="quarter" idx="13"/>
          </p:nvPr>
        </p:nvSpPr>
        <p:spPr>
          <a:xfrm>
            <a:off x="457200" y="1539323"/>
            <a:ext cx="8218488" cy="1008000"/>
          </a:xfrm>
        </p:spPr>
        <p:txBody>
          <a:bodyPr/>
          <a:lstStyle/>
          <a:p>
            <a:pPr marL="432" indent="0">
              <a:buNone/>
            </a:pPr>
            <a:r>
              <a:rPr lang="en-US" altLang="en-US" sz="2800" dirty="0">
                <a:cs typeface="Courier New" panose="02070309020205020404" pitchFamily="49" charset="0"/>
              </a:rPr>
              <a:t>Many classes (e.g., Date and Calendar) in the Java library implement Cloneable. </a:t>
            </a:r>
          </a:p>
        </p:txBody>
      </p:sp>
    </p:spTree>
    <p:extLst>
      <p:ext uri="{BB962C8B-B14F-4D97-AF65-F5344CB8AC3E}">
        <p14:creationId xmlns:p14="http://schemas.microsoft.com/office/powerpoint/2010/main" val="12815072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C36E1-8C9B-47A3-93BF-614FD25B567C}"/>
              </a:ext>
            </a:extLst>
          </p:cNvPr>
          <p:cNvSpPr>
            <a:spLocks noGrp="1"/>
          </p:cNvSpPr>
          <p:nvPr>
            <p:ph type="title"/>
          </p:nvPr>
        </p:nvSpPr>
        <p:spPr>
          <a:xfrm>
            <a:off x="457200" y="215371"/>
            <a:ext cx="8218488" cy="1097279"/>
          </a:xfrm>
        </p:spPr>
        <p:txBody>
          <a:bodyPr/>
          <a:lstStyle/>
          <a:p>
            <a:r>
              <a:rPr lang="en-US" altLang="en-US" dirty="0"/>
              <a:t>Implementing </a:t>
            </a:r>
            <a:r>
              <a:rPr lang="en-US" altLang="en-US" dirty="0" err="1">
                <a:latin typeface="Courier New" panose="02070309020205020404" pitchFamily="49" charset="0"/>
                <a:cs typeface="Courier New" panose="02070309020205020404" pitchFamily="49" charset="0"/>
              </a:rPr>
              <a:t>Cloneable</a:t>
            </a:r>
            <a:r>
              <a:rPr lang="en-US" altLang="en-US" dirty="0"/>
              <a:t> Interface</a:t>
            </a:r>
            <a:endParaRPr lang="en-US" dirty="0"/>
          </a:p>
        </p:txBody>
      </p:sp>
      <p:sp>
        <p:nvSpPr>
          <p:cNvPr id="4" name="Content Placeholder 3">
            <a:extLst>
              <a:ext uri="{FF2B5EF4-FFF2-40B4-BE49-F238E27FC236}">
                <a16:creationId xmlns:a16="http://schemas.microsoft.com/office/drawing/2014/main" id="{DD59F362-6406-4B8F-98DD-5A8D0F948722}"/>
              </a:ext>
            </a:extLst>
          </p:cNvPr>
          <p:cNvSpPr>
            <a:spLocks noGrp="1"/>
          </p:cNvSpPr>
          <p:nvPr>
            <p:ph sz="quarter" idx="13"/>
          </p:nvPr>
        </p:nvSpPr>
        <p:spPr>
          <a:xfrm>
            <a:off x="457200" y="1539323"/>
            <a:ext cx="8218488" cy="2016000"/>
          </a:xfrm>
        </p:spPr>
        <p:txBody>
          <a:bodyPr/>
          <a:lstStyle/>
          <a:p>
            <a:pPr marL="432" indent="0">
              <a:buNone/>
            </a:pPr>
            <a:r>
              <a:rPr lang="en-US" altLang="en-US" dirty="0">
                <a:cs typeface="Courier New" panose="02070309020205020404" pitchFamily="49" charset="0"/>
              </a:rPr>
              <a:t>To define a custom class that implements the </a:t>
            </a:r>
            <a:r>
              <a:rPr lang="en-US" altLang="en-US" dirty="0">
                <a:latin typeface="Courier New" panose="02070309020205020404" pitchFamily="49" charset="0"/>
                <a:cs typeface="Courier New" panose="02070309020205020404" pitchFamily="49" charset="0"/>
              </a:rPr>
              <a:t>Cloneable</a:t>
            </a:r>
            <a:r>
              <a:rPr lang="en-US" altLang="en-US" dirty="0">
                <a:cs typeface="Courier New" panose="02070309020205020404" pitchFamily="49" charset="0"/>
              </a:rPr>
              <a:t> interface, the class must override the </a:t>
            </a:r>
            <a:r>
              <a:rPr lang="en-US" altLang="en-US" dirty="0">
                <a:latin typeface="Courier New" panose="02070309020205020404" pitchFamily="49" charset="0"/>
                <a:cs typeface="Courier New" panose="02070309020205020404" pitchFamily="49" charset="0"/>
              </a:rPr>
              <a:t>clone() </a:t>
            </a:r>
            <a:r>
              <a:rPr lang="en-US" altLang="en-US" dirty="0">
                <a:cs typeface="Courier New" panose="02070309020205020404" pitchFamily="49" charset="0"/>
              </a:rPr>
              <a:t>method in the </a:t>
            </a:r>
            <a:r>
              <a:rPr lang="en-US" altLang="en-US" dirty="0">
                <a:latin typeface="Courier New" panose="02070309020205020404" pitchFamily="49" charset="0"/>
                <a:cs typeface="Courier New" panose="02070309020205020404" pitchFamily="49" charset="0"/>
              </a:rPr>
              <a:t>Object</a:t>
            </a:r>
            <a:r>
              <a:rPr lang="en-US" altLang="en-US" dirty="0">
                <a:cs typeface="Courier New" panose="02070309020205020404" pitchFamily="49" charset="0"/>
              </a:rPr>
              <a:t> class. The following code defines a class named House that implements </a:t>
            </a:r>
            <a:r>
              <a:rPr lang="en-US" altLang="en-US" dirty="0">
                <a:latin typeface="Courier New" panose="02070309020205020404" pitchFamily="49" charset="0"/>
                <a:cs typeface="Courier New" panose="02070309020205020404" pitchFamily="49" charset="0"/>
              </a:rPr>
              <a:t>Cloneable</a:t>
            </a:r>
            <a:r>
              <a:rPr lang="en-US" altLang="en-US" dirty="0">
                <a:cs typeface="Courier New" panose="02070309020205020404" pitchFamily="49" charset="0"/>
              </a:rPr>
              <a:t> and Comparable.</a:t>
            </a:r>
            <a:endParaRPr lang="en-US" altLang="en-US" dirty="0"/>
          </a:p>
        </p:txBody>
      </p:sp>
      <p:sp>
        <p:nvSpPr>
          <p:cNvPr id="10" name="Text Placeholder 9">
            <a:extLst>
              <a:ext uri="{FF2B5EF4-FFF2-40B4-BE49-F238E27FC236}">
                <a16:creationId xmlns:a16="http://schemas.microsoft.com/office/drawing/2014/main" id="{B095FEFB-BC2E-4402-A915-F8E5B10FEF02}"/>
              </a:ext>
            </a:extLst>
          </p:cNvPr>
          <p:cNvSpPr>
            <a:spLocks noGrp="1"/>
          </p:cNvSpPr>
          <p:nvPr>
            <p:ph type="body" sz="quarter" idx="20"/>
          </p:nvPr>
        </p:nvSpPr>
        <p:spPr>
          <a:xfrm>
            <a:off x="3701068" y="4238132"/>
            <a:ext cx="1188000" cy="521944"/>
          </a:xfrm>
        </p:spPr>
        <p:txBody>
          <a:bodyPr/>
          <a:lstStyle/>
          <a:p>
            <a:pPr>
              <a:spcBef>
                <a:spcPct val="0"/>
              </a:spcBef>
              <a:buClrTx/>
              <a:buSzTx/>
              <a:buFontTx/>
              <a:buNone/>
            </a:pPr>
            <a:r>
              <a:rPr lang="en-US" altLang="en-US">
                <a:hlinkClick r:id="rId3" tooltip="https://liveexample.pearsoncmg.com/html/House.html"/>
              </a:rPr>
              <a:t>House</a:t>
            </a:r>
          </a:p>
        </p:txBody>
      </p:sp>
    </p:spTree>
    <p:extLst>
      <p:ext uri="{BB962C8B-B14F-4D97-AF65-F5344CB8AC3E}">
        <p14:creationId xmlns:p14="http://schemas.microsoft.com/office/powerpoint/2010/main" val="214579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17BF1-6755-42CA-8DCC-67C14820B4AD}"/>
              </a:ext>
            </a:extLst>
          </p:cNvPr>
          <p:cNvSpPr>
            <a:spLocks noGrp="1"/>
          </p:cNvSpPr>
          <p:nvPr>
            <p:ph type="title"/>
          </p:nvPr>
        </p:nvSpPr>
        <p:spPr>
          <a:xfrm>
            <a:off x="457200" y="215371"/>
            <a:ext cx="8218488" cy="1097279"/>
          </a:xfrm>
        </p:spPr>
        <p:txBody>
          <a:bodyPr/>
          <a:lstStyle/>
          <a:p>
            <a:r>
              <a:rPr lang="en-US" dirty="0"/>
              <a:t>Shallow </a:t>
            </a:r>
            <a:r>
              <a:rPr lang="en-US" sz="3600" b="1" i="0" u="none" strike="noStrike" cap="none" dirty="0">
                <a:solidFill>
                  <a:srgbClr val="007FA3"/>
                </a:solidFill>
                <a:effectLst/>
                <a:latin typeface="+mj-lt"/>
                <a:ea typeface="Times New Roman"/>
                <a:cs typeface="Times New Roman"/>
                <a:sym typeface="Times New Roman"/>
              </a:rPr>
              <a:t>v</a:t>
            </a:r>
            <a:r>
              <a:rPr lang="en-US" sz="100" b="1" i="0" u="none" strike="noStrike" cap="none" dirty="0">
                <a:solidFill>
                  <a:srgbClr val="007FA3"/>
                </a:solidFill>
                <a:effectLst/>
                <a:latin typeface="+mj-lt"/>
                <a:ea typeface="Times New Roman"/>
                <a:cs typeface="Times New Roman"/>
                <a:sym typeface="Times New Roman"/>
              </a:rPr>
              <a:t>ersu</a:t>
            </a:r>
            <a:r>
              <a:rPr lang="en-US" sz="3600" b="1" i="0" u="none" strike="noStrike" cap="none" dirty="0">
                <a:solidFill>
                  <a:srgbClr val="007FA3"/>
                </a:solidFill>
                <a:effectLst/>
                <a:latin typeface="+mj-lt"/>
                <a:ea typeface="Times New Roman"/>
                <a:cs typeface="Times New Roman"/>
                <a:sym typeface="Times New Roman"/>
              </a:rPr>
              <a:t>s</a:t>
            </a:r>
            <a:r>
              <a:rPr lang="en-US" dirty="0"/>
              <a:t> Deep Copy </a:t>
            </a:r>
            <a:r>
              <a:rPr lang="en-US" sz="2000" b="0" dirty="0"/>
              <a:t>(1 of 2)</a:t>
            </a:r>
          </a:p>
        </p:txBody>
      </p:sp>
      <p:sp>
        <p:nvSpPr>
          <p:cNvPr id="3" name="Content Placeholder 2">
            <a:extLst>
              <a:ext uri="{FF2B5EF4-FFF2-40B4-BE49-F238E27FC236}">
                <a16:creationId xmlns:a16="http://schemas.microsoft.com/office/drawing/2014/main" id="{0210F9B5-A439-4414-8486-26E265315599}"/>
              </a:ext>
            </a:extLst>
          </p:cNvPr>
          <p:cNvSpPr>
            <a:spLocks noGrp="1"/>
          </p:cNvSpPr>
          <p:nvPr>
            <p:ph sz="quarter" idx="13"/>
          </p:nvPr>
        </p:nvSpPr>
        <p:spPr>
          <a:xfrm>
            <a:off x="457200" y="1539322"/>
            <a:ext cx="8218488" cy="1097279"/>
          </a:xfrm>
        </p:spPr>
        <p:txBody>
          <a:bodyPr/>
          <a:lstStyle/>
          <a:p>
            <a:pPr>
              <a:spcBef>
                <a:spcPct val="50000"/>
              </a:spcBef>
              <a:buClrTx/>
              <a:buSzTx/>
              <a:buFontTx/>
              <a:buNone/>
            </a:pPr>
            <a:r>
              <a:rPr lang="en-US" altLang="en-US" dirty="0">
                <a:latin typeface="Courier New" panose="02070309020205020404" pitchFamily="49" charset="0"/>
                <a:cs typeface="Courier New" panose="02070309020205020404" pitchFamily="49" charset="0"/>
              </a:rPr>
              <a:t>House house1 = new House(1, 1750.50);</a:t>
            </a:r>
          </a:p>
          <a:p>
            <a:pPr>
              <a:spcBef>
                <a:spcPct val="50000"/>
              </a:spcBef>
              <a:buClrTx/>
              <a:buSzTx/>
              <a:buFontTx/>
              <a:buNone/>
            </a:pPr>
            <a:r>
              <a:rPr lang="en-US" altLang="en-US" dirty="0">
                <a:latin typeface="Courier New" panose="02070309020205020404" pitchFamily="49" charset="0"/>
                <a:cs typeface="Courier New" panose="02070309020205020404" pitchFamily="49" charset="0"/>
              </a:rPr>
              <a:t>House house2 = (House)house1.clone();</a:t>
            </a:r>
          </a:p>
        </p:txBody>
      </p:sp>
      <p:sp>
        <p:nvSpPr>
          <p:cNvPr id="4" name="Content Placeholder 3">
            <a:extLst>
              <a:ext uri="{FF2B5EF4-FFF2-40B4-BE49-F238E27FC236}">
                <a16:creationId xmlns:a16="http://schemas.microsoft.com/office/drawing/2014/main" id="{B738F616-CE8D-433A-92AA-144FD2AD8A16}"/>
              </a:ext>
            </a:extLst>
          </p:cNvPr>
          <p:cNvSpPr>
            <a:spLocks noGrp="1"/>
          </p:cNvSpPr>
          <p:nvPr>
            <p:ph sz="quarter" idx="14"/>
          </p:nvPr>
        </p:nvSpPr>
        <p:spPr>
          <a:xfrm>
            <a:off x="455993" y="3329863"/>
            <a:ext cx="1828801" cy="997526"/>
          </a:xfrm>
        </p:spPr>
        <p:txBody>
          <a:bodyPr/>
          <a:lstStyle/>
          <a:p>
            <a:pPr marL="432" indent="0">
              <a:buNone/>
            </a:pPr>
            <a:r>
              <a:rPr lang="en-US" altLang="en-US" b="1">
                <a:solidFill>
                  <a:schemeClr val="tx1"/>
                </a:solidFill>
              </a:rPr>
              <a:t>Shallow Copy</a:t>
            </a:r>
            <a:endParaRPr lang="en-US" altLang="en-US" b="1" u="sng">
              <a:solidFill>
                <a:schemeClr val="tx1"/>
              </a:solidFill>
              <a:latin typeface="Book Antiqua" panose="02040602050305030304" pitchFamily="18" charset="0"/>
            </a:endParaRPr>
          </a:p>
        </p:txBody>
      </p:sp>
      <p:pic>
        <p:nvPicPr>
          <p:cNvPr id="8" name="Picture 7" descr="The computer code shows the Shallow versus Deep Copy. For long description in Notes pane, press F6.">
            <a:extLst>
              <a:ext uri="{FF2B5EF4-FFF2-40B4-BE49-F238E27FC236}">
                <a16:creationId xmlns:a16="http://schemas.microsoft.com/office/drawing/2014/main" id="{6C5F5EFF-B3B7-4F8D-8F3D-BA4B515DEFB7}"/>
              </a:ext>
            </a:extLst>
          </p:cNvPr>
          <p:cNvPicPr>
            <a:picLocks noChangeAspect="1"/>
          </p:cNvPicPr>
          <p:nvPr/>
        </p:nvPicPr>
        <p:blipFill>
          <a:blip r:embed="rId3"/>
          <a:stretch>
            <a:fillRect/>
          </a:stretch>
        </p:blipFill>
        <p:spPr>
          <a:xfrm>
            <a:off x="3662214" y="2795963"/>
            <a:ext cx="4523014" cy="3516536"/>
          </a:xfrm>
          <a:prstGeom prst="rect">
            <a:avLst/>
          </a:prstGeom>
        </p:spPr>
      </p:pic>
    </p:spTree>
    <p:extLst>
      <p:ext uri="{BB962C8B-B14F-4D97-AF65-F5344CB8AC3E}">
        <p14:creationId xmlns:p14="http://schemas.microsoft.com/office/powerpoint/2010/main" val="16732654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17BF1-6755-42CA-8DCC-67C14820B4AD}"/>
              </a:ext>
            </a:extLst>
          </p:cNvPr>
          <p:cNvSpPr>
            <a:spLocks noGrp="1"/>
          </p:cNvSpPr>
          <p:nvPr>
            <p:ph type="title"/>
          </p:nvPr>
        </p:nvSpPr>
        <p:spPr>
          <a:xfrm>
            <a:off x="457200" y="215371"/>
            <a:ext cx="8218488" cy="1097279"/>
          </a:xfrm>
        </p:spPr>
        <p:txBody>
          <a:bodyPr/>
          <a:lstStyle/>
          <a:p>
            <a:r>
              <a:rPr lang="en-US" dirty="0"/>
              <a:t>Shallow v</a:t>
            </a:r>
            <a:r>
              <a:rPr lang="en-US" sz="100" dirty="0"/>
              <a:t>ersu</a:t>
            </a:r>
            <a:r>
              <a:rPr lang="en-US" dirty="0"/>
              <a:t>s Deep Copy </a:t>
            </a:r>
            <a:r>
              <a:rPr lang="en-US" sz="2000" b="0" dirty="0"/>
              <a:t>(2 of 2)</a:t>
            </a:r>
          </a:p>
        </p:txBody>
      </p:sp>
      <p:sp>
        <p:nvSpPr>
          <p:cNvPr id="3" name="Content Placeholder 2">
            <a:extLst>
              <a:ext uri="{FF2B5EF4-FFF2-40B4-BE49-F238E27FC236}">
                <a16:creationId xmlns:a16="http://schemas.microsoft.com/office/drawing/2014/main" id="{0210F9B5-A439-4414-8486-26E265315599}"/>
              </a:ext>
            </a:extLst>
          </p:cNvPr>
          <p:cNvSpPr>
            <a:spLocks noGrp="1"/>
          </p:cNvSpPr>
          <p:nvPr>
            <p:ph sz="quarter" idx="13"/>
          </p:nvPr>
        </p:nvSpPr>
        <p:spPr>
          <a:xfrm>
            <a:off x="457200" y="1539322"/>
            <a:ext cx="8218488" cy="1097279"/>
          </a:xfrm>
        </p:spPr>
        <p:txBody>
          <a:bodyPr/>
          <a:lstStyle/>
          <a:p>
            <a:pPr>
              <a:spcBef>
                <a:spcPct val="50000"/>
              </a:spcBef>
              <a:buClrTx/>
              <a:buSzTx/>
              <a:buFontTx/>
              <a:buNone/>
            </a:pPr>
            <a:r>
              <a:rPr lang="en-US" altLang="en-US" dirty="0">
                <a:latin typeface="Courier New" panose="02070309020205020404" pitchFamily="49" charset="0"/>
                <a:cs typeface="Courier New" panose="02070309020205020404" pitchFamily="49" charset="0"/>
              </a:rPr>
              <a:t>House house1 = new House(1, 1750.50);</a:t>
            </a:r>
          </a:p>
          <a:p>
            <a:pPr>
              <a:spcBef>
                <a:spcPct val="50000"/>
              </a:spcBef>
              <a:buClrTx/>
              <a:buSzTx/>
              <a:buFontTx/>
              <a:buNone/>
            </a:pPr>
            <a:r>
              <a:rPr lang="en-US" altLang="en-US" dirty="0">
                <a:latin typeface="Courier New" panose="02070309020205020404" pitchFamily="49" charset="0"/>
                <a:cs typeface="Courier New" panose="02070309020205020404" pitchFamily="49" charset="0"/>
              </a:rPr>
              <a:t>House house2 = (House)house1.clone();</a:t>
            </a:r>
          </a:p>
        </p:txBody>
      </p:sp>
      <p:sp>
        <p:nvSpPr>
          <p:cNvPr id="4" name="Content Placeholder 3">
            <a:extLst>
              <a:ext uri="{FF2B5EF4-FFF2-40B4-BE49-F238E27FC236}">
                <a16:creationId xmlns:a16="http://schemas.microsoft.com/office/drawing/2014/main" id="{B738F616-CE8D-433A-92AA-144FD2AD8A16}"/>
              </a:ext>
            </a:extLst>
          </p:cNvPr>
          <p:cNvSpPr>
            <a:spLocks noGrp="1"/>
          </p:cNvSpPr>
          <p:nvPr>
            <p:ph sz="quarter" idx="14"/>
          </p:nvPr>
        </p:nvSpPr>
        <p:spPr>
          <a:xfrm>
            <a:off x="455993" y="3329863"/>
            <a:ext cx="1828801" cy="576000"/>
          </a:xfrm>
        </p:spPr>
        <p:txBody>
          <a:bodyPr/>
          <a:lstStyle/>
          <a:p>
            <a:pPr marL="432" indent="0">
              <a:buNone/>
            </a:pPr>
            <a:r>
              <a:rPr lang="en-US" altLang="en-US" b="1" dirty="0">
                <a:solidFill>
                  <a:schemeClr val="tx1"/>
                </a:solidFill>
              </a:rPr>
              <a:t>Deep Copy</a:t>
            </a:r>
          </a:p>
        </p:txBody>
      </p:sp>
      <p:pic>
        <p:nvPicPr>
          <p:cNvPr id="9" name="Picture 8" descr="The computer code shows the Shallow versus Deep Copy. For long description in Notes pane, press F6.">
            <a:extLst>
              <a:ext uri="{FF2B5EF4-FFF2-40B4-BE49-F238E27FC236}">
                <a16:creationId xmlns:a16="http://schemas.microsoft.com/office/drawing/2014/main" id="{DF625616-42C9-4CDC-A94C-80A8AC91F23A}"/>
              </a:ext>
            </a:extLst>
          </p:cNvPr>
          <p:cNvPicPr>
            <a:picLocks noChangeAspect="1"/>
          </p:cNvPicPr>
          <p:nvPr/>
        </p:nvPicPr>
        <p:blipFill>
          <a:blip r:embed="rId3"/>
          <a:stretch>
            <a:fillRect/>
          </a:stretch>
        </p:blipFill>
        <p:spPr>
          <a:xfrm>
            <a:off x="3454081" y="2772881"/>
            <a:ext cx="4435698" cy="3512100"/>
          </a:xfrm>
          <a:prstGeom prst="rect">
            <a:avLst/>
          </a:prstGeom>
        </p:spPr>
      </p:pic>
    </p:spTree>
    <p:extLst>
      <p:ext uri="{BB962C8B-B14F-4D97-AF65-F5344CB8AC3E}">
        <p14:creationId xmlns:p14="http://schemas.microsoft.com/office/powerpoint/2010/main" val="283879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72A04-A5A7-4354-A598-4862C16CD7B8}"/>
              </a:ext>
            </a:extLst>
          </p:cNvPr>
          <p:cNvSpPr>
            <a:spLocks noGrp="1"/>
          </p:cNvSpPr>
          <p:nvPr>
            <p:ph type="title"/>
          </p:nvPr>
        </p:nvSpPr>
        <p:spPr>
          <a:xfrm>
            <a:off x="457200" y="215371"/>
            <a:ext cx="8218488" cy="1097279"/>
          </a:xfrm>
        </p:spPr>
        <p:txBody>
          <a:bodyPr/>
          <a:lstStyle/>
          <a:p>
            <a:r>
              <a:rPr lang="en-US" sz="3200" dirty="0"/>
              <a:t>Interfaces v</a:t>
            </a:r>
            <a:r>
              <a:rPr lang="en-US" sz="100" dirty="0"/>
              <a:t>ersu</a:t>
            </a:r>
            <a:r>
              <a:rPr lang="en-US" sz="3200" dirty="0"/>
              <a:t>s Abstract Classes </a:t>
            </a:r>
            <a:r>
              <a:rPr lang="en-US" sz="2000" b="0" dirty="0"/>
              <a:t>(1 of 2)</a:t>
            </a:r>
          </a:p>
        </p:txBody>
      </p:sp>
      <p:sp>
        <p:nvSpPr>
          <p:cNvPr id="3" name="Content Placeholder 2">
            <a:extLst>
              <a:ext uri="{FF2B5EF4-FFF2-40B4-BE49-F238E27FC236}">
                <a16:creationId xmlns:a16="http://schemas.microsoft.com/office/drawing/2014/main" id="{4B2B56FB-786B-4750-A0A3-33E979B153B5}"/>
              </a:ext>
            </a:extLst>
          </p:cNvPr>
          <p:cNvSpPr>
            <a:spLocks noGrp="1"/>
          </p:cNvSpPr>
          <p:nvPr>
            <p:ph sz="quarter" idx="13"/>
          </p:nvPr>
        </p:nvSpPr>
        <p:spPr>
          <a:xfrm>
            <a:off x="457200" y="1543074"/>
            <a:ext cx="8218488" cy="2196000"/>
          </a:xfrm>
        </p:spPr>
        <p:txBody>
          <a:bodyPr/>
          <a:lstStyle/>
          <a:p>
            <a:pPr marL="0" lvl="1" indent="0">
              <a:spcBef>
                <a:spcPts val="1500"/>
              </a:spcBef>
              <a:buFontTx/>
              <a:buNone/>
            </a:pPr>
            <a:r>
              <a:rPr lang="en-US" altLang="en-US" dirty="0"/>
              <a:t>In an interface, the data must be constants; an abstract class can have all types of data.</a:t>
            </a:r>
          </a:p>
          <a:p>
            <a:pPr marL="0" lvl="1" indent="0">
              <a:spcBef>
                <a:spcPts val="1500"/>
              </a:spcBef>
              <a:buFontTx/>
              <a:buNone/>
            </a:pPr>
            <a:r>
              <a:rPr lang="en-US" altLang="en-US" dirty="0"/>
              <a:t>Each method in an interface has only a signature without implementation; an abstract class can have concrete methods.</a:t>
            </a:r>
          </a:p>
        </p:txBody>
      </p:sp>
      <p:graphicFrame>
        <p:nvGraphicFramePr>
          <p:cNvPr id="7" name="Table 6">
            <a:extLst>
              <a:ext uri="{FF2B5EF4-FFF2-40B4-BE49-F238E27FC236}">
                <a16:creationId xmlns:a16="http://schemas.microsoft.com/office/drawing/2014/main" id="{B13630D7-4871-3749-F319-81B02BBDA00C}"/>
              </a:ext>
            </a:extLst>
          </p:cNvPr>
          <p:cNvGraphicFramePr>
            <a:graphicFrameLocks noGrp="1"/>
          </p:cNvGraphicFramePr>
          <p:nvPr>
            <p:extLst>
              <p:ext uri="{D42A27DB-BD31-4B8C-83A1-F6EECF244321}">
                <p14:modId xmlns:p14="http://schemas.microsoft.com/office/powerpoint/2010/main" val="1000894359"/>
              </p:ext>
            </p:extLst>
          </p:nvPr>
        </p:nvGraphicFramePr>
        <p:xfrm>
          <a:off x="457200" y="3944215"/>
          <a:ext cx="8148119" cy="2194560"/>
        </p:xfrm>
        <a:graphic>
          <a:graphicData uri="http://schemas.openxmlformats.org/drawingml/2006/table">
            <a:tbl>
              <a:tblPr firstRow="1" bandRow="1">
                <a:tableStyleId>{40F9630F-82C1-40B7-BC3A-925EFCFF5E92}</a:tableStyleId>
              </a:tblPr>
              <a:tblGrid>
                <a:gridCol w="1182791">
                  <a:extLst>
                    <a:ext uri="{9D8B030D-6E8A-4147-A177-3AD203B41FA5}">
                      <a16:colId xmlns:a16="http://schemas.microsoft.com/office/drawing/2014/main" val="4289709854"/>
                    </a:ext>
                  </a:extLst>
                </a:gridCol>
                <a:gridCol w="1927512">
                  <a:extLst>
                    <a:ext uri="{9D8B030D-6E8A-4147-A177-3AD203B41FA5}">
                      <a16:colId xmlns:a16="http://schemas.microsoft.com/office/drawing/2014/main" val="3410632082"/>
                    </a:ext>
                  </a:extLst>
                </a:gridCol>
                <a:gridCol w="3095702">
                  <a:extLst>
                    <a:ext uri="{9D8B030D-6E8A-4147-A177-3AD203B41FA5}">
                      <a16:colId xmlns:a16="http://schemas.microsoft.com/office/drawing/2014/main" val="907474943"/>
                    </a:ext>
                  </a:extLst>
                </a:gridCol>
                <a:gridCol w="1942114">
                  <a:extLst>
                    <a:ext uri="{9D8B030D-6E8A-4147-A177-3AD203B41FA5}">
                      <a16:colId xmlns:a16="http://schemas.microsoft.com/office/drawing/2014/main" val="3255753275"/>
                    </a:ext>
                  </a:extLst>
                </a:gridCol>
              </a:tblGrid>
              <a:tr h="201869">
                <a:tc>
                  <a:txBody>
                    <a:bodyPr/>
                    <a:lstStyle/>
                    <a:p>
                      <a:pPr marL="0" marR="0" lvl="0" indent="0" algn="l" defTabSz="914400" rtl="0" eaLnBrk="1" fontAlgn="auto" latinLnBrk="0" hangingPunct="1">
                        <a:lnSpc>
                          <a:spcPct val="100000"/>
                        </a:lnSpc>
                        <a:spcBef>
                          <a:spcPts val="1500"/>
                        </a:spcBef>
                        <a:spcAft>
                          <a:spcPts val="0"/>
                        </a:spcAft>
                        <a:buClrTx/>
                        <a:buSzTx/>
                        <a:buFontTx/>
                        <a:buNone/>
                        <a:tabLst/>
                        <a:defRPr/>
                      </a:pPr>
                      <a:r>
                        <a:rPr lang="en-US" sz="100" b="1" i="0" u="none" strike="noStrike" cap="none" baseline="0" noProof="0" dirty="0">
                          <a:solidFill>
                            <a:schemeClr val="dk1"/>
                          </a:solidFill>
                          <a:latin typeface="+mn-lt"/>
                          <a:ea typeface="Arial"/>
                          <a:cs typeface="Arial"/>
                          <a:sym typeface="Arial"/>
                        </a:rPr>
                        <a:t>Blank</a:t>
                      </a:r>
                    </a:p>
                  </a:txBody>
                  <a:tcPr marL="90535" marR="90535"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Tx/>
                        <a:buNone/>
                        <a:tabLst/>
                        <a:defRPr/>
                      </a:pPr>
                      <a:r>
                        <a:rPr lang="en-US" sz="1400" b="1" i="0" u="none" strike="noStrike" cap="none" baseline="0" noProof="0" dirty="0">
                          <a:solidFill>
                            <a:schemeClr val="dk1"/>
                          </a:solidFill>
                          <a:latin typeface="+mn-lt"/>
                          <a:ea typeface="Arial"/>
                          <a:cs typeface="Arial"/>
                          <a:sym typeface="Arial"/>
                        </a:rPr>
                        <a:t>Variables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Tx/>
                        <a:buNone/>
                        <a:tabLst/>
                        <a:defRPr/>
                      </a:pPr>
                      <a:r>
                        <a:rPr lang="en-US" sz="1400" b="1" i="0" u="none" strike="noStrike" cap="none" baseline="0" noProof="0" dirty="0">
                          <a:solidFill>
                            <a:schemeClr val="dk1"/>
                          </a:solidFill>
                          <a:latin typeface="+mn-lt"/>
                          <a:ea typeface="Arial"/>
                          <a:cs typeface="Arial"/>
                          <a:sym typeface="Arial"/>
                        </a:rPr>
                        <a:t>Constructors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Tx/>
                        <a:buNone/>
                        <a:tabLst/>
                        <a:defRPr/>
                      </a:pPr>
                      <a:r>
                        <a:rPr lang="en-US" sz="1400" b="1" i="0" u="none" strike="noStrike" cap="none" baseline="0" noProof="0" dirty="0">
                          <a:solidFill>
                            <a:schemeClr val="dk1"/>
                          </a:solidFill>
                          <a:latin typeface="+mn-lt"/>
                          <a:ea typeface="Arial"/>
                          <a:cs typeface="Arial"/>
                          <a:sym typeface="Arial"/>
                        </a:rPr>
                        <a:t>Methods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12918054"/>
                  </a:ext>
                </a:extLst>
              </a:tr>
              <a:tr h="370840">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Abstract class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No restrictions.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Constructors are invoked by subclasses through constructor chaining. An abstract class cannot be instantiated using the new operator.</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No restrictions.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1187472"/>
                  </a:ext>
                </a:extLst>
              </a:tr>
              <a:tr h="370840">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Interface</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All variables must be </a:t>
                      </a:r>
                      <a:r>
                        <a:rPr lang="en-US" sz="1400" b="1" i="0" u="none" strike="noStrike" cap="none" baseline="0" noProof="0" dirty="0">
                          <a:solidFill>
                            <a:schemeClr val="tx1"/>
                          </a:solidFill>
                          <a:latin typeface="+mn-lt"/>
                          <a:ea typeface="Arial"/>
                          <a:cs typeface="Arial"/>
                          <a:sym typeface="Arial"/>
                        </a:rPr>
                        <a:t>public static final</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No constructors. An interface cannot be instantiated using the new operator.</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1500"/>
                        </a:spcBef>
                        <a:spcAft>
                          <a:spcPts val="0"/>
                        </a:spcAft>
                        <a:buClrTx/>
                        <a:buSzTx/>
                        <a:buFont typeface="Arial" panose="020B0604020202020204" pitchFamily="34" charset="0"/>
                        <a:buNone/>
                        <a:tabLst/>
                        <a:defRPr/>
                      </a:pPr>
                      <a:r>
                        <a:rPr lang="en-US" sz="1400" b="0" i="0" u="none" strike="noStrike" cap="none" baseline="0" noProof="0" dirty="0">
                          <a:solidFill>
                            <a:schemeClr val="dk1"/>
                          </a:solidFill>
                          <a:latin typeface="+mn-lt"/>
                          <a:ea typeface="Arial"/>
                          <a:cs typeface="Arial"/>
                          <a:sym typeface="Arial"/>
                        </a:rPr>
                        <a:t>All methods must be public abstract instance methods</a:t>
                      </a:r>
                    </a:p>
                  </a:txBody>
                  <a:tcPr marL="90535" marR="90535">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5392940"/>
                  </a:ext>
                </a:extLst>
              </a:tr>
            </a:tbl>
          </a:graphicData>
        </a:graphic>
      </p:graphicFrame>
    </p:spTree>
    <p:extLst>
      <p:ext uri="{BB962C8B-B14F-4D97-AF65-F5344CB8AC3E}">
        <p14:creationId xmlns:p14="http://schemas.microsoft.com/office/powerpoint/2010/main" val="26724629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2A8A2-2ED1-4ECF-8AF7-A7DF2B19C8E7}"/>
              </a:ext>
            </a:extLst>
          </p:cNvPr>
          <p:cNvSpPr>
            <a:spLocks noGrp="1"/>
          </p:cNvSpPr>
          <p:nvPr>
            <p:ph type="title"/>
          </p:nvPr>
        </p:nvSpPr>
        <p:spPr>
          <a:xfrm>
            <a:off x="457200" y="215371"/>
            <a:ext cx="8218488" cy="1097279"/>
          </a:xfrm>
        </p:spPr>
        <p:txBody>
          <a:bodyPr/>
          <a:lstStyle/>
          <a:p>
            <a:r>
              <a:rPr lang="en-US" sz="3200" dirty="0"/>
              <a:t>Interfaces v</a:t>
            </a:r>
            <a:r>
              <a:rPr lang="en-US" sz="100" dirty="0"/>
              <a:t>ersu</a:t>
            </a:r>
            <a:r>
              <a:rPr lang="en-US" sz="3200" dirty="0"/>
              <a:t>s Abstract Classes </a:t>
            </a:r>
            <a:r>
              <a:rPr lang="en-US" sz="2000" b="0" dirty="0"/>
              <a:t>(2 of 2)</a:t>
            </a:r>
            <a:endParaRPr lang="en-US" sz="2000" dirty="0"/>
          </a:p>
        </p:txBody>
      </p:sp>
      <p:sp>
        <p:nvSpPr>
          <p:cNvPr id="3" name="Content Placeholder 2">
            <a:extLst>
              <a:ext uri="{FF2B5EF4-FFF2-40B4-BE49-F238E27FC236}">
                <a16:creationId xmlns:a16="http://schemas.microsoft.com/office/drawing/2014/main" id="{22373463-B170-4A9E-82CF-921C92B887DC}"/>
              </a:ext>
            </a:extLst>
          </p:cNvPr>
          <p:cNvSpPr>
            <a:spLocks noGrp="1"/>
          </p:cNvSpPr>
          <p:nvPr>
            <p:ph sz="quarter" idx="13"/>
          </p:nvPr>
        </p:nvSpPr>
        <p:spPr>
          <a:xfrm>
            <a:off x="457200" y="1539323"/>
            <a:ext cx="8218488" cy="1404000"/>
          </a:xfrm>
        </p:spPr>
        <p:txBody>
          <a:bodyPr/>
          <a:lstStyle/>
          <a:p>
            <a:pPr marL="432" indent="0">
              <a:buNone/>
            </a:pPr>
            <a:r>
              <a:rPr lang="en-US" altLang="en-US" sz="1600" dirty="0">
                <a:cs typeface="Courier New" panose="02070309020205020404" pitchFamily="49" charset="0"/>
              </a:rPr>
              <a:t>All classes share a single root, the Object class, but there is no single root for interfaces. Like a class, an interface also defines a type. A variable of an interface type can reference any instance of the class that implements the interface. If a class extends an interface, this interface plays the same role as a superclass. You can use an interface as a data type and cast a variable of an interface type to its subclass, and vice versa.</a:t>
            </a:r>
            <a:endParaRPr lang="en-US" altLang="en-US" sz="1600" dirty="0"/>
          </a:p>
        </p:txBody>
      </p:sp>
      <p:pic>
        <p:nvPicPr>
          <p:cNvPr id="8" name="Picture 7" descr="An object shows the Interfaces versus Abstract Classes, cont. It has 8 boxes, and they are interrelated with each other. Boxes are Interface underscore 2, Interface_1, Interface1, Interface 2_2, Interface 2_1, Class2, Class1 and Object. ">
            <a:extLst>
              <a:ext uri="{FF2B5EF4-FFF2-40B4-BE49-F238E27FC236}">
                <a16:creationId xmlns:a16="http://schemas.microsoft.com/office/drawing/2014/main" id="{8AA31C17-7A66-4930-A17C-27D5CF253826}"/>
              </a:ext>
            </a:extLst>
          </p:cNvPr>
          <p:cNvPicPr>
            <a:picLocks noChangeAspect="1"/>
          </p:cNvPicPr>
          <p:nvPr/>
        </p:nvPicPr>
        <p:blipFill>
          <a:blip r:embed="rId2"/>
          <a:stretch>
            <a:fillRect/>
          </a:stretch>
        </p:blipFill>
        <p:spPr>
          <a:xfrm>
            <a:off x="1223794" y="3112077"/>
            <a:ext cx="6351858" cy="2356631"/>
          </a:xfrm>
          <a:prstGeom prst="rect">
            <a:avLst/>
          </a:prstGeom>
        </p:spPr>
      </p:pic>
      <p:sp>
        <p:nvSpPr>
          <p:cNvPr id="5" name="Content Placeholder 4">
            <a:extLst>
              <a:ext uri="{FF2B5EF4-FFF2-40B4-BE49-F238E27FC236}">
                <a16:creationId xmlns:a16="http://schemas.microsoft.com/office/drawing/2014/main" id="{5C230D36-02A2-4A14-9D85-C3A9812E788E}"/>
              </a:ext>
            </a:extLst>
          </p:cNvPr>
          <p:cNvSpPr>
            <a:spLocks noGrp="1"/>
          </p:cNvSpPr>
          <p:nvPr>
            <p:ph sz="quarter" idx="15"/>
          </p:nvPr>
        </p:nvSpPr>
        <p:spPr>
          <a:xfrm>
            <a:off x="457200" y="5656027"/>
            <a:ext cx="8218488" cy="675959"/>
          </a:xfrm>
        </p:spPr>
        <p:txBody>
          <a:bodyPr/>
          <a:lstStyle/>
          <a:p>
            <a:pPr marL="432" indent="0">
              <a:buNone/>
            </a:pPr>
            <a:r>
              <a:rPr lang="en-US" altLang="en-US" sz="1600" dirty="0">
                <a:cs typeface="Courier New" panose="02070309020205020404" pitchFamily="49" charset="0"/>
              </a:rPr>
              <a:t>Suppose that c is an instance of Class2. c is also an instance of Object, Class1, Interface1, Interface1_1, Interface1_2, Interface2_1, and Interface2_2.</a:t>
            </a:r>
            <a:endParaRPr lang="en-US" altLang="en-US" sz="1600" dirty="0">
              <a:cs typeface="Times New Roman" panose="02020603050405020304" pitchFamily="18" charset="0"/>
            </a:endParaRPr>
          </a:p>
        </p:txBody>
      </p:sp>
    </p:spTree>
    <p:extLst>
      <p:ext uri="{BB962C8B-B14F-4D97-AF65-F5344CB8AC3E}">
        <p14:creationId xmlns:p14="http://schemas.microsoft.com/office/powerpoint/2010/main" val="4092196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83893-FBC2-46E3-9454-9163876A9F3C}"/>
              </a:ext>
            </a:extLst>
          </p:cNvPr>
          <p:cNvSpPr>
            <a:spLocks noGrp="1"/>
          </p:cNvSpPr>
          <p:nvPr>
            <p:ph type="title"/>
          </p:nvPr>
        </p:nvSpPr>
        <p:spPr>
          <a:xfrm>
            <a:off x="455994" y="215371"/>
            <a:ext cx="8191984" cy="1097279"/>
          </a:xfrm>
        </p:spPr>
        <p:txBody>
          <a:bodyPr/>
          <a:lstStyle/>
          <a:p>
            <a:r>
              <a:rPr lang="en-US" dirty="0"/>
              <a:t>Caution: Conflict Interfaces</a:t>
            </a:r>
          </a:p>
        </p:txBody>
      </p:sp>
      <p:sp>
        <p:nvSpPr>
          <p:cNvPr id="3" name="Content Placeholder 2">
            <a:extLst>
              <a:ext uri="{FF2B5EF4-FFF2-40B4-BE49-F238E27FC236}">
                <a16:creationId xmlns:a16="http://schemas.microsoft.com/office/drawing/2014/main" id="{FF907EE0-6190-42E4-BBF2-0F15683DD2B2}"/>
              </a:ext>
            </a:extLst>
          </p:cNvPr>
          <p:cNvSpPr>
            <a:spLocks noGrp="1"/>
          </p:cNvSpPr>
          <p:nvPr>
            <p:ph sz="quarter" idx="13"/>
          </p:nvPr>
        </p:nvSpPr>
        <p:spPr>
          <a:xfrm>
            <a:off x="470452" y="1541669"/>
            <a:ext cx="8191985" cy="2016000"/>
          </a:xfrm>
        </p:spPr>
        <p:txBody>
          <a:bodyPr/>
          <a:lstStyle/>
          <a:p>
            <a:pPr marL="432" indent="0">
              <a:buNone/>
            </a:pPr>
            <a:r>
              <a:rPr lang="en-US" altLang="en-US" dirty="0">
                <a:cs typeface="Times New Roman" panose="02020603050405020304" pitchFamily="18" charset="0"/>
              </a:rPr>
              <a:t>In rare occasions, a class may implement two interfaces with conflict information (e.g., two same constants with different values or two methods with same signature but different return type). This type of errors will be detected by the compiler.</a:t>
            </a:r>
            <a:endParaRPr lang="en-US" altLang="en-US" dirty="0">
              <a:cs typeface="Courier New" panose="02070309020205020404" pitchFamily="49" charset="0"/>
            </a:endParaRPr>
          </a:p>
        </p:txBody>
      </p:sp>
    </p:spTree>
    <p:extLst>
      <p:ext uri="{BB962C8B-B14F-4D97-AF65-F5344CB8AC3E}">
        <p14:creationId xmlns:p14="http://schemas.microsoft.com/office/powerpoint/2010/main" val="3757013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CA343-FACF-4127-B6B7-7CDF46080A98}"/>
              </a:ext>
            </a:extLst>
          </p:cNvPr>
          <p:cNvSpPr>
            <a:spLocks noGrp="1"/>
          </p:cNvSpPr>
          <p:nvPr>
            <p:ph type="title"/>
          </p:nvPr>
        </p:nvSpPr>
        <p:spPr>
          <a:xfrm>
            <a:off x="457200" y="215371"/>
            <a:ext cx="8218488" cy="1097279"/>
          </a:xfrm>
        </p:spPr>
        <p:txBody>
          <a:bodyPr/>
          <a:lstStyle/>
          <a:p>
            <a:r>
              <a:rPr lang="en-US" sz="3200" dirty="0"/>
              <a:t>Whether to Use an Interface or a Class?</a:t>
            </a:r>
          </a:p>
        </p:txBody>
      </p:sp>
      <p:sp>
        <p:nvSpPr>
          <p:cNvPr id="3" name="Content Placeholder 2">
            <a:extLst>
              <a:ext uri="{FF2B5EF4-FFF2-40B4-BE49-F238E27FC236}">
                <a16:creationId xmlns:a16="http://schemas.microsoft.com/office/drawing/2014/main" id="{BD5A47B4-9071-4B59-BF45-ABA573AF53C9}"/>
              </a:ext>
            </a:extLst>
          </p:cNvPr>
          <p:cNvSpPr>
            <a:spLocks noGrp="1"/>
          </p:cNvSpPr>
          <p:nvPr>
            <p:ph sz="quarter" idx="13"/>
          </p:nvPr>
        </p:nvSpPr>
        <p:spPr>
          <a:xfrm>
            <a:off x="457200" y="1541669"/>
            <a:ext cx="8232775" cy="4536000"/>
          </a:xfrm>
        </p:spPr>
        <p:txBody>
          <a:bodyPr/>
          <a:lstStyle/>
          <a:p>
            <a:pPr marL="432" indent="0">
              <a:buNone/>
            </a:pPr>
            <a:r>
              <a:rPr lang="en-US" altLang="en-US" sz="2200">
                <a:cs typeface="Courier New" panose="02070309020205020404" pitchFamily="49" charset="0"/>
              </a:rPr>
              <a:t>Abstract classes and interfaces can both be used to model common features. How do you decide whether to use an interface or a class? In general, a strong is-a relationship that clearly describes a parent-child relationship should be modeled using classes. For example, a staff member is a person. A weak is-a relationship, also known as an is-kind-of relationship, indicates that an object possesses a certain property. A weak is-a relationship can be modeled using interfaces. For example, all strings are comparable, so the String class implements the Comparable interface. You can also use interfaces to circumvent single inheritance restriction if multiple inheritance is desired. In the case of multiple inheritance, you have to design one as a superclass, and others as interface.</a:t>
            </a:r>
          </a:p>
        </p:txBody>
      </p:sp>
    </p:spTree>
    <p:extLst>
      <p:ext uri="{BB962C8B-B14F-4D97-AF65-F5344CB8AC3E}">
        <p14:creationId xmlns:p14="http://schemas.microsoft.com/office/powerpoint/2010/main" val="15728670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68D95-0984-42B9-AD06-BDA8D2B0FBF7}"/>
              </a:ext>
            </a:extLst>
          </p:cNvPr>
          <p:cNvSpPr>
            <a:spLocks noGrp="1"/>
          </p:cNvSpPr>
          <p:nvPr>
            <p:ph type="title"/>
          </p:nvPr>
        </p:nvSpPr>
        <p:spPr>
          <a:xfrm>
            <a:off x="457200" y="215371"/>
            <a:ext cx="8218488" cy="1097279"/>
          </a:xfrm>
        </p:spPr>
        <p:txBody>
          <a:bodyPr/>
          <a:lstStyle/>
          <a:p>
            <a:r>
              <a:rPr lang="en-US" dirty="0"/>
              <a:t>Designing a Class </a:t>
            </a:r>
            <a:r>
              <a:rPr lang="en-US" sz="2000" b="0" dirty="0"/>
              <a:t>(1 of 5)</a:t>
            </a:r>
          </a:p>
        </p:txBody>
      </p:sp>
      <p:sp>
        <p:nvSpPr>
          <p:cNvPr id="3" name="Content Placeholder 2">
            <a:extLst>
              <a:ext uri="{FF2B5EF4-FFF2-40B4-BE49-F238E27FC236}">
                <a16:creationId xmlns:a16="http://schemas.microsoft.com/office/drawing/2014/main" id="{692C3060-122A-40BC-AEA6-6CD1EFBA0B9A}"/>
              </a:ext>
            </a:extLst>
          </p:cNvPr>
          <p:cNvSpPr>
            <a:spLocks noGrp="1"/>
          </p:cNvSpPr>
          <p:nvPr>
            <p:ph sz="quarter" idx="13"/>
          </p:nvPr>
        </p:nvSpPr>
        <p:spPr>
          <a:xfrm>
            <a:off x="457200" y="1541669"/>
            <a:ext cx="8218488" cy="2376000"/>
          </a:xfrm>
        </p:spPr>
        <p:txBody>
          <a:bodyPr/>
          <a:lstStyle/>
          <a:p>
            <a:pPr marL="432" indent="0">
              <a:buNone/>
            </a:pPr>
            <a:r>
              <a:rPr lang="en-US" altLang="en-US" dirty="0"/>
              <a:t>(Coherence) A class should describe a single entity, and all the class operations should logically fit together to support a coherent purpose. You can use a class for students, for example, but you should not combine students and staff in the same class, because students and staff have different entities.</a:t>
            </a:r>
          </a:p>
        </p:txBody>
      </p:sp>
    </p:spTree>
    <p:extLst>
      <p:ext uri="{BB962C8B-B14F-4D97-AF65-F5344CB8AC3E}">
        <p14:creationId xmlns:p14="http://schemas.microsoft.com/office/powerpoint/2010/main" val="2103118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973E-9B47-4291-8CE3-02DECA968619}"/>
              </a:ext>
            </a:extLst>
          </p:cNvPr>
          <p:cNvSpPr>
            <a:spLocks noGrp="1"/>
          </p:cNvSpPr>
          <p:nvPr>
            <p:ph type="title"/>
          </p:nvPr>
        </p:nvSpPr>
        <p:spPr>
          <a:xfrm>
            <a:off x="457200" y="215371"/>
            <a:ext cx="8218488" cy="1097279"/>
          </a:xfrm>
        </p:spPr>
        <p:txBody>
          <a:bodyPr/>
          <a:lstStyle/>
          <a:p>
            <a:r>
              <a:rPr lang="en-US" dirty="0"/>
              <a:t>Designing a Class </a:t>
            </a:r>
            <a:r>
              <a:rPr lang="en-US" sz="2000" b="0" dirty="0"/>
              <a:t>(2 of 5)</a:t>
            </a:r>
            <a:endParaRPr lang="en-US" dirty="0"/>
          </a:p>
        </p:txBody>
      </p:sp>
      <p:sp>
        <p:nvSpPr>
          <p:cNvPr id="3" name="Content Placeholder 2">
            <a:extLst>
              <a:ext uri="{FF2B5EF4-FFF2-40B4-BE49-F238E27FC236}">
                <a16:creationId xmlns:a16="http://schemas.microsoft.com/office/drawing/2014/main" id="{093D6A94-B6F5-40EF-A1C9-1CFF2F222FCE}"/>
              </a:ext>
            </a:extLst>
          </p:cNvPr>
          <p:cNvSpPr>
            <a:spLocks noGrp="1"/>
          </p:cNvSpPr>
          <p:nvPr>
            <p:ph sz="quarter" idx="13"/>
          </p:nvPr>
        </p:nvSpPr>
        <p:spPr>
          <a:xfrm>
            <a:off x="457200" y="1541668"/>
            <a:ext cx="8218488" cy="3456000"/>
          </a:xfrm>
        </p:spPr>
        <p:txBody>
          <a:bodyPr/>
          <a:lstStyle/>
          <a:p>
            <a:pPr marL="432" indent="0">
              <a:buNone/>
            </a:pPr>
            <a:r>
              <a:rPr lang="en-US" altLang="en-US" dirty="0">
                <a:cs typeface="Times New Roman" panose="02020603050405020304" pitchFamily="18" charset="0"/>
              </a:rPr>
              <a:t>(Separating responsibilities) </a:t>
            </a:r>
            <a:r>
              <a:rPr lang="en-US" altLang="en-US" dirty="0"/>
              <a:t>A single entity with too many responsibilities can be broken into several classes to separate responsibilities. The classes String, StringBuilder, and </a:t>
            </a:r>
            <a:r>
              <a:rPr lang="en-US" altLang="en-US" dirty="0">
                <a:latin typeface="Courier New" panose="02070309020205020404" pitchFamily="49" charset="0"/>
                <a:cs typeface="Courier New" panose="02070309020205020404" pitchFamily="49" charset="0"/>
              </a:rPr>
              <a:t>StringBuffer</a:t>
            </a:r>
            <a:r>
              <a:rPr lang="en-US" altLang="en-US" dirty="0"/>
              <a:t> all deal with strings, for example, but have different responsibilities. The String class deals with immutable strings, the StringBuilder class is for creating mutable strings, and the </a:t>
            </a:r>
            <a:r>
              <a:rPr lang="en-US" altLang="en-US" dirty="0">
                <a:latin typeface="Courier New" panose="02070309020205020404" pitchFamily="49" charset="0"/>
                <a:cs typeface="Courier New" panose="02070309020205020404" pitchFamily="49" charset="0"/>
              </a:rPr>
              <a:t>StringBuffer</a:t>
            </a:r>
            <a:r>
              <a:rPr lang="en-US" altLang="en-US" dirty="0"/>
              <a:t> class is similar to StringBuilder except that </a:t>
            </a:r>
            <a:r>
              <a:rPr lang="en-US" altLang="en-US" dirty="0">
                <a:latin typeface="Courier New" panose="02070309020205020404" pitchFamily="49" charset="0"/>
                <a:cs typeface="Courier New" panose="02070309020205020404" pitchFamily="49" charset="0"/>
              </a:rPr>
              <a:t>StringBuffer</a:t>
            </a:r>
            <a:r>
              <a:rPr lang="en-US" altLang="en-US" dirty="0"/>
              <a:t> contains synchronized methods for updating strings.</a:t>
            </a:r>
          </a:p>
        </p:txBody>
      </p:sp>
    </p:spTree>
    <p:extLst>
      <p:ext uri="{BB962C8B-B14F-4D97-AF65-F5344CB8AC3E}">
        <p14:creationId xmlns:p14="http://schemas.microsoft.com/office/powerpoint/2010/main" val="6878136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973E-9B47-4291-8CE3-02DECA968619}"/>
              </a:ext>
            </a:extLst>
          </p:cNvPr>
          <p:cNvSpPr>
            <a:spLocks noGrp="1"/>
          </p:cNvSpPr>
          <p:nvPr>
            <p:ph type="title"/>
          </p:nvPr>
        </p:nvSpPr>
        <p:spPr>
          <a:xfrm>
            <a:off x="457200" y="215371"/>
            <a:ext cx="8218488" cy="1097279"/>
          </a:xfrm>
        </p:spPr>
        <p:txBody>
          <a:bodyPr/>
          <a:lstStyle/>
          <a:p>
            <a:r>
              <a:rPr lang="en-US" dirty="0"/>
              <a:t>Designing a Class </a:t>
            </a:r>
            <a:r>
              <a:rPr lang="en-US" sz="2000" b="0" dirty="0"/>
              <a:t>(3 of 5)</a:t>
            </a:r>
            <a:endParaRPr lang="en-US" dirty="0"/>
          </a:p>
        </p:txBody>
      </p:sp>
      <p:sp>
        <p:nvSpPr>
          <p:cNvPr id="3" name="Content Placeholder 2">
            <a:extLst>
              <a:ext uri="{FF2B5EF4-FFF2-40B4-BE49-F238E27FC236}">
                <a16:creationId xmlns:a16="http://schemas.microsoft.com/office/drawing/2014/main" id="{093D6A94-B6F5-40EF-A1C9-1CFF2F222FCE}"/>
              </a:ext>
            </a:extLst>
          </p:cNvPr>
          <p:cNvSpPr>
            <a:spLocks noGrp="1"/>
          </p:cNvSpPr>
          <p:nvPr>
            <p:ph sz="quarter" idx="13"/>
          </p:nvPr>
        </p:nvSpPr>
        <p:spPr>
          <a:xfrm>
            <a:off x="457200" y="1541668"/>
            <a:ext cx="8218488" cy="3096000"/>
          </a:xfrm>
        </p:spPr>
        <p:txBody>
          <a:bodyPr/>
          <a:lstStyle/>
          <a:p>
            <a:pPr marL="0" indent="0">
              <a:spcBef>
                <a:spcPct val="50000"/>
              </a:spcBef>
              <a:buFont typeface="Monotype Sorts"/>
              <a:buNone/>
            </a:pPr>
            <a:r>
              <a:rPr lang="en-US" altLang="en-US" dirty="0">
                <a:cs typeface="Times New Roman" panose="02020603050405020304" pitchFamily="18" charset="0"/>
              </a:rPr>
              <a:t>Classes are designed for reuse. Users can incorporate classes in many different combinations, orders, and environments. Therefore, you should design a class that imposes no restrictions on what or when the user can do with it, design the properties to ensure that the user can set properties in any order, with any combination of values, and design methods to function independently of their order of occurrence.</a:t>
            </a:r>
          </a:p>
        </p:txBody>
      </p:sp>
    </p:spTree>
    <p:extLst>
      <p:ext uri="{BB962C8B-B14F-4D97-AF65-F5344CB8AC3E}">
        <p14:creationId xmlns:p14="http://schemas.microsoft.com/office/powerpoint/2010/main" val="39849264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973E-9B47-4291-8CE3-02DECA968619}"/>
              </a:ext>
            </a:extLst>
          </p:cNvPr>
          <p:cNvSpPr>
            <a:spLocks noGrp="1"/>
          </p:cNvSpPr>
          <p:nvPr>
            <p:ph type="title"/>
          </p:nvPr>
        </p:nvSpPr>
        <p:spPr>
          <a:xfrm>
            <a:off x="457200" y="215371"/>
            <a:ext cx="8218488" cy="1097279"/>
          </a:xfrm>
        </p:spPr>
        <p:txBody>
          <a:bodyPr/>
          <a:lstStyle/>
          <a:p>
            <a:r>
              <a:rPr lang="en-US" dirty="0"/>
              <a:t>Designing a Class </a:t>
            </a:r>
            <a:r>
              <a:rPr lang="en-US" sz="2000" b="0" dirty="0"/>
              <a:t>(4 of 5)</a:t>
            </a:r>
            <a:endParaRPr lang="en-US" dirty="0"/>
          </a:p>
        </p:txBody>
      </p:sp>
      <p:sp>
        <p:nvSpPr>
          <p:cNvPr id="3" name="Content Placeholder 2">
            <a:extLst>
              <a:ext uri="{FF2B5EF4-FFF2-40B4-BE49-F238E27FC236}">
                <a16:creationId xmlns:a16="http://schemas.microsoft.com/office/drawing/2014/main" id="{093D6A94-B6F5-40EF-A1C9-1CFF2F222FCE}"/>
              </a:ext>
            </a:extLst>
          </p:cNvPr>
          <p:cNvSpPr>
            <a:spLocks noGrp="1"/>
          </p:cNvSpPr>
          <p:nvPr>
            <p:ph sz="quarter" idx="13"/>
          </p:nvPr>
        </p:nvSpPr>
        <p:spPr>
          <a:xfrm>
            <a:off x="457200" y="1541668"/>
            <a:ext cx="8229600" cy="1413567"/>
          </a:xfrm>
        </p:spPr>
        <p:txBody>
          <a:bodyPr/>
          <a:lstStyle/>
          <a:p>
            <a:pPr marL="0" indent="0">
              <a:spcBef>
                <a:spcPct val="50000"/>
              </a:spcBef>
              <a:buFont typeface="Monotype Sorts"/>
              <a:buNone/>
            </a:pPr>
            <a:r>
              <a:rPr lang="en-US" altLang="en-US" dirty="0">
                <a:cs typeface="Times New Roman" panose="02020603050405020304" pitchFamily="18" charset="0"/>
              </a:rPr>
              <a:t>Provide a public no-arg constructor and override the </a:t>
            </a:r>
            <a:r>
              <a:rPr lang="en-US" altLang="en-US" b="1" dirty="0">
                <a:latin typeface="Courier New" panose="02070309020205020404" pitchFamily="49" charset="0"/>
                <a:cs typeface="Courier New" panose="02070309020205020404" pitchFamily="49" charset="0"/>
              </a:rPr>
              <a:t>equals</a:t>
            </a:r>
            <a:r>
              <a:rPr lang="en-US" altLang="en-US" dirty="0">
                <a:cs typeface="Times New Roman" panose="02020603050405020304" pitchFamily="18" charset="0"/>
              </a:rPr>
              <a:t> method and the </a:t>
            </a:r>
            <a:r>
              <a:rPr lang="en-US" altLang="en-US" b="1" dirty="0">
                <a:latin typeface="Courier New" panose="02070309020205020404" pitchFamily="49" charset="0"/>
                <a:cs typeface="Courier New" panose="02070309020205020404" pitchFamily="49" charset="0"/>
              </a:rPr>
              <a:t>toString</a:t>
            </a:r>
            <a:r>
              <a:rPr lang="en-US" altLang="en-US" dirty="0">
                <a:cs typeface="Times New Roman" panose="02020603050405020304" pitchFamily="18" charset="0"/>
              </a:rPr>
              <a:t> method defined in the </a:t>
            </a:r>
            <a:r>
              <a:rPr lang="en-US" altLang="en-US" b="1" dirty="0">
                <a:latin typeface="Courier New" panose="02070309020205020404" pitchFamily="49" charset="0"/>
                <a:cs typeface="Courier New" panose="02070309020205020404" pitchFamily="49" charset="0"/>
              </a:rPr>
              <a:t>Object</a:t>
            </a:r>
            <a:r>
              <a:rPr lang="en-US" altLang="en-US" dirty="0">
                <a:cs typeface="Times New Roman" panose="02020603050405020304" pitchFamily="18" charset="0"/>
              </a:rPr>
              <a:t> class whenever possible.</a:t>
            </a:r>
            <a:endParaRPr lang="en-US" altLang="en-US" dirty="0">
              <a:latin typeface="Courier"/>
              <a:cs typeface="Times New Roman" panose="02020603050405020304" pitchFamily="18" charset="0"/>
            </a:endParaRPr>
          </a:p>
        </p:txBody>
      </p:sp>
    </p:spTree>
    <p:extLst>
      <p:ext uri="{BB962C8B-B14F-4D97-AF65-F5344CB8AC3E}">
        <p14:creationId xmlns:p14="http://schemas.microsoft.com/office/powerpoint/2010/main" val="631840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973E-9B47-4291-8CE3-02DECA968619}"/>
              </a:ext>
            </a:extLst>
          </p:cNvPr>
          <p:cNvSpPr>
            <a:spLocks noGrp="1"/>
          </p:cNvSpPr>
          <p:nvPr>
            <p:ph type="title"/>
          </p:nvPr>
        </p:nvSpPr>
        <p:spPr>
          <a:xfrm>
            <a:off x="457200" y="215371"/>
            <a:ext cx="8218488" cy="1097279"/>
          </a:xfrm>
        </p:spPr>
        <p:txBody>
          <a:bodyPr/>
          <a:lstStyle/>
          <a:p>
            <a:r>
              <a:rPr lang="en-US" dirty="0"/>
              <a:t>Designing a Class </a:t>
            </a:r>
            <a:r>
              <a:rPr lang="en-US" sz="2000" b="0" dirty="0"/>
              <a:t>(5 of 5)</a:t>
            </a:r>
            <a:endParaRPr lang="en-US" dirty="0"/>
          </a:p>
        </p:txBody>
      </p:sp>
      <p:sp>
        <p:nvSpPr>
          <p:cNvPr id="3" name="Content Placeholder 2">
            <a:extLst>
              <a:ext uri="{FF2B5EF4-FFF2-40B4-BE49-F238E27FC236}">
                <a16:creationId xmlns:a16="http://schemas.microsoft.com/office/drawing/2014/main" id="{093D6A94-B6F5-40EF-A1C9-1CFF2F222FCE}"/>
              </a:ext>
            </a:extLst>
          </p:cNvPr>
          <p:cNvSpPr>
            <a:spLocks noGrp="1"/>
          </p:cNvSpPr>
          <p:nvPr>
            <p:ph sz="quarter" idx="13"/>
          </p:nvPr>
        </p:nvSpPr>
        <p:spPr>
          <a:xfrm>
            <a:off x="457200" y="1541669"/>
            <a:ext cx="8218488" cy="2376000"/>
          </a:xfrm>
        </p:spPr>
        <p:txBody>
          <a:bodyPr/>
          <a:lstStyle/>
          <a:p>
            <a:pPr marL="0" indent="0">
              <a:spcBef>
                <a:spcPct val="50000"/>
              </a:spcBef>
              <a:buFont typeface="Monotype Sorts"/>
              <a:buNone/>
            </a:pPr>
            <a:r>
              <a:rPr lang="en-US" altLang="en-US" dirty="0">
                <a:cs typeface="Times New Roman" panose="02020603050405020304" pitchFamily="18" charset="0"/>
              </a:rPr>
              <a:t>Follow standard Java programming style and naming conventions. Choose informative names for classes, data fields, and methods. Always place the data declaration before the constructor, and place constructors before methods. Always provide a constructor and initialize variables to avoid programming errors.</a:t>
            </a:r>
            <a:endParaRPr lang="en-US" altLang="en-US" dirty="0"/>
          </a:p>
        </p:txBody>
      </p:sp>
    </p:spTree>
    <p:extLst>
      <p:ext uri="{BB962C8B-B14F-4D97-AF65-F5344CB8AC3E}">
        <p14:creationId xmlns:p14="http://schemas.microsoft.com/office/powerpoint/2010/main" val="21879561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8C671-AF1B-4E7F-8C67-EC901292E24D}"/>
              </a:ext>
            </a:extLst>
          </p:cNvPr>
          <p:cNvSpPr>
            <a:spLocks noGrp="1"/>
          </p:cNvSpPr>
          <p:nvPr>
            <p:ph type="title"/>
          </p:nvPr>
        </p:nvSpPr>
        <p:spPr>
          <a:xfrm>
            <a:off x="457200" y="215371"/>
            <a:ext cx="8218488" cy="1097279"/>
          </a:xfrm>
        </p:spPr>
        <p:txBody>
          <a:bodyPr/>
          <a:lstStyle/>
          <a:p>
            <a:r>
              <a:rPr lang="en-US" dirty="0"/>
              <a:t>Using Visibility Modifiers </a:t>
            </a:r>
            <a:r>
              <a:rPr lang="en-US" sz="2000" b="0" dirty="0"/>
              <a:t>(1 of 2)</a:t>
            </a:r>
          </a:p>
        </p:txBody>
      </p:sp>
      <p:sp>
        <p:nvSpPr>
          <p:cNvPr id="3" name="Content Placeholder 2">
            <a:extLst>
              <a:ext uri="{FF2B5EF4-FFF2-40B4-BE49-F238E27FC236}">
                <a16:creationId xmlns:a16="http://schemas.microsoft.com/office/drawing/2014/main" id="{59A2D09B-FACF-4D8B-BBF4-53CCAE4CB2E0}"/>
              </a:ext>
            </a:extLst>
          </p:cNvPr>
          <p:cNvSpPr>
            <a:spLocks noGrp="1"/>
          </p:cNvSpPr>
          <p:nvPr>
            <p:ph sz="quarter" idx="13"/>
          </p:nvPr>
        </p:nvSpPr>
        <p:spPr>
          <a:xfrm>
            <a:off x="457200" y="1541668"/>
            <a:ext cx="8218488" cy="3816000"/>
          </a:xfrm>
        </p:spPr>
        <p:txBody>
          <a:bodyPr/>
          <a:lstStyle/>
          <a:p>
            <a:pPr marL="432" indent="0">
              <a:buNone/>
            </a:pPr>
            <a:r>
              <a:rPr lang="en-US" altLang="en-US" dirty="0">
                <a:cs typeface="Times New Roman" panose="02020603050405020304" pitchFamily="18" charset="0"/>
              </a:rPr>
              <a:t>Each class can present two contracts – one for the users of the class and one for the extenders of the class. Make the fields private and accessor methods public if they are intended for the users of the class. Make the fields or method protected if they are intended for extenders of the class. The contract for the extenders encompasses the contract for the users. The extended class may increase the visibility of an instance method from protected to public, or change its implementation, but you should never change the implementation in a way that violates that contract.</a:t>
            </a:r>
          </a:p>
        </p:txBody>
      </p:sp>
    </p:spTree>
    <p:extLst>
      <p:ext uri="{BB962C8B-B14F-4D97-AF65-F5344CB8AC3E}">
        <p14:creationId xmlns:p14="http://schemas.microsoft.com/office/powerpoint/2010/main" val="38870387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574DF-B615-4453-82A9-327C70778772}"/>
              </a:ext>
            </a:extLst>
          </p:cNvPr>
          <p:cNvSpPr>
            <a:spLocks noGrp="1"/>
          </p:cNvSpPr>
          <p:nvPr>
            <p:ph type="title"/>
          </p:nvPr>
        </p:nvSpPr>
        <p:spPr>
          <a:xfrm>
            <a:off x="457200" y="215371"/>
            <a:ext cx="8218488" cy="1097279"/>
          </a:xfrm>
        </p:spPr>
        <p:txBody>
          <a:bodyPr/>
          <a:lstStyle/>
          <a:p>
            <a:r>
              <a:rPr lang="en-US" dirty="0"/>
              <a:t>Using Visibility Modifiers </a:t>
            </a:r>
            <a:r>
              <a:rPr lang="en-US" sz="2000" b="0" dirty="0"/>
              <a:t>(2 of 2)</a:t>
            </a:r>
            <a:endParaRPr lang="en-US" dirty="0"/>
          </a:p>
        </p:txBody>
      </p:sp>
      <p:sp>
        <p:nvSpPr>
          <p:cNvPr id="3" name="Content Placeholder 2">
            <a:extLst>
              <a:ext uri="{FF2B5EF4-FFF2-40B4-BE49-F238E27FC236}">
                <a16:creationId xmlns:a16="http://schemas.microsoft.com/office/drawing/2014/main" id="{647F82B4-8AAF-4929-A055-863CD09710CF}"/>
              </a:ext>
            </a:extLst>
          </p:cNvPr>
          <p:cNvSpPr>
            <a:spLocks noGrp="1"/>
          </p:cNvSpPr>
          <p:nvPr>
            <p:ph sz="quarter" idx="13"/>
          </p:nvPr>
        </p:nvSpPr>
        <p:spPr>
          <a:xfrm>
            <a:off x="457200" y="1541668"/>
            <a:ext cx="8218488" cy="3096000"/>
          </a:xfrm>
        </p:spPr>
        <p:txBody>
          <a:bodyPr/>
          <a:lstStyle/>
          <a:p>
            <a:pPr marL="432" indent="0">
              <a:buNone/>
            </a:pPr>
            <a:r>
              <a:rPr lang="en-US" altLang="en-US" dirty="0">
                <a:cs typeface="Times New Roman" panose="02020603050405020304" pitchFamily="18" charset="0"/>
              </a:rPr>
              <a:t>A class should use the private modifier to hide its data from direct access by clients. You can use get methods and set methods to provide users with access to the private data, but only to private data you want the user to see or to modify. A class should also hide methods not intended for client use. The </a:t>
            </a:r>
            <a:r>
              <a:rPr lang="en-US" altLang="en-US" dirty="0" err="1">
                <a:cs typeface="Times New Roman" panose="02020603050405020304" pitchFamily="18" charset="0"/>
              </a:rPr>
              <a:t>gcd</a:t>
            </a:r>
            <a:r>
              <a:rPr lang="en-US" altLang="en-US" dirty="0">
                <a:cs typeface="Times New Roman" panose="02020603050405020304" pitchFamily="18" charset="0"/>
              </a:rPr>
              <a:t> method in the Rational class is private, for example, because it is only for internal use within the class.</a:t>
            </a:r>
          </a:p>
        </p:txBody>
      </p:sp>
    </p:spTree>
    <p:extLst>
      <p:ext uri="{BB962C8B-B14F-4D97-AF65-F5344CB8AC3E}">
        <p14:creationId xmlns:p14="http://schemas.microsoft.com/office/powerpoint/2010/main" val="4930414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574DF-B615-4453-82A9-327C70778772}"/>
              </a:ext>
            </a:extLst>
          </p:cNvPr>
          <p:cNvSpPr>
            <a:spLocks noGrp="1"/>
          </p:cNvSpPr>
          <p:nvPr>
            <p:ph type="title"/>
          </p:nvPr>
        </p:nvSpPr>
        <p:spPr>
          <a:xfrm>
            <a:off x="457200" y="215371"/>
            <a:ext cx="8218488" cy="1097279"/>
          </a:xfrm>
        </p:spPr>
        <p:txBody>
          <a:bodyPr/>
          <a:lstStyle/>
          <a:p>
            <a:r>
              <a:rPr lang="en-US" altLang="en-US" dirty="0">
                <a:cs typeface="Times New Roman" panose="02020603050405020304" pitchFamily="18" charset="0"/>
              </a:rPr>
              <a:t>Using the Static Modifier</a:t>
            </a:r>
            <a:endParaRPr lang="en-US" dirty="0"/>
          </a:p>
        </p:txBody>
      </p:sp>
      <p:sp>
        <p:nvSpPr>
          <p:cNvPr id="3" name="Content Placeholder 2">
            <a:extLst>
              <a:ext uri="{FF2B5EF4-FFF2-40B4-BE49-F238E27FC236}">
                <a16:creationId xmlns:a16="http://schemas.microsoft.com/office/drawing/2014/main" id="{647F82B4-8AAF-4929-A055-863CD09710CF}"/>
              </a:ext>
            </a:extLst>
          </p:cNvPr>
          <p:cNvSpPr>
            <a:spLocks noGrp="1"/>
          </p:cNvSpPr>
          <p:nvPr>
            <p:ph sz="quarter" idx="13"/>
          </p:nvPr>
        </p:nvSpPr>
        <p:spPr>
          <a:xfrm>
            <a:off x="457200" y="1541668"/>
            <a:ext cx="8232775" cy="936000"/>
          </a:xfrm>
        </p:spPr>
        <p:txBody>
          <a:bodyPr/>
          <a:lstStyle/>
          <a:p>
            <a:pPr marL="0" indent="0">
              <a:buFont typeface="Monotype Sorts"/>
              <a:buNone/>
            </a:pPr>
            <a:r>
              <a:rPr lang="en-US" altLang="en-US" dirty="0">
                <a:cs typeface="Times New Roman" panose="02020603050405020304" pitchFamily="18" charset="0"/>
              </a:rPr>
              <a:t>A property that is shared by all the instances of the class should be declared as a static property.</a:t>
            </a:r>
            <a:endParaRPr lang="en-US" altLang="en-US" dirty="0">
              <a:latin typeface="Courier"/>
              <a:cs typeface="Times New Roman" panose="02020603050405020304" pitchFamily="18" charset="0"/>
            </a:endParaRPr>
          </a:p>
        </p:txBody>
      </p:sp>
    </p:spTree>
    <p:extLst>
      <p:ext uri="{BB962C8B-B14F-4D97-AF65-F5344CB8AC3E}">
        <p14:creationId xmlns:p14="http://schemas.microsoft.com/office/powerpoint/2010/main" val="33882761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C0EC3-2DB8-1CA7-74E0-084BDCAB9319}"/>
            </a:ext>
          </a:extLst>
        </p:cNvPr>
        <p:cNvGrpSpPr/>
        <p:nvPr/>
      </p:nvGrpSpPr>
      <p:grpSpPr>
        <a:xfrm>
          <a:off x="0" y="0"/>
          <a:ext cx="0" cy="0"/>
          <a:chOff x="0" y="0"/>
          <a:chExt cx="0" cy="0"/>
        </a:xfrm>
      </p:grpSpPr>
      <p:sp>
        <p:nvSpPr>
          <p:cNvPr id="47106" name="Title 1">
            <a:extLst>
              <a:ext uri="{FF2B5EF4-FFF2-40B4-BE49-F238E27FC236}">
                <a16:creationId xmlns:a16="http://schemas.microsoft.com/office/drawing/2014/main" id="{7AE0A0AA-92E1-D903-F9F9-52BAA02C58D8}"/>
              </a:ext>
            </a:extLst>
          </p:cNvPr>
          <p:cNvSpPr>
            <a:spLocks noGrp="1" noChangeArrowheads="1"/>
          </p:cNvSpPr>
          <p:nvPr>
            <p:ph type="title"/>
          </p:nvPr>
        </p:nvSpPr>
        <p:spPr/>
        <p:txBody>
          <a:bodyPr/>
          <a:lstStyle/>
          <a:p>
            <a:r>
              <a:rPr lang="en-US" altLang="en-US" dirty="0">
                <a:latin typeface="+mj-lt"/>
              </a:rPr>
              <a:t>Practice</a:t>
            </a:r>
          </a:p>
        </p:txBody>
      </p:sp>
      <p:sp>
        <p:nvSpPr>
          <p:cNvPr id="47107" name="Content Placeholder 2">
            <a:extLst>
              <a:ext uri="{FF2B5EF4-FFF2-40B4-BE49-F238E27FC236}">
                <a16:creationId xmlns:a16="http://schemas.microsoft.com/office/drawing/2014/main" id="{57249A6B-B23F-312B-3605-A6AF30F16F39}"/>
              </a:ext>
            </a:extLst>
          </p:cNvPr>
          <p:cNvSpPr>
            <a:spLocks noGrp="1" noChangeArrowheads="1"/>
          </p:cNvSpPr>
          <p:nvPr>
            <p:ph idx="1"/>
          </p:nvPr>
        </p:nvSpPr>
        <p:spPr>
          <a:xfrm>
            <a:off x="457200" y="1294523"/>
            <a:ext cx="8229600" cy="452120"/>
          </a:xfrm>
        </p:spPr>
        <p:txBody>
          <a:bodyPr/>
          <a:lstStyle/>
          <a:p>
            <a:pPr marL="0" indent="0">
              <a:buFont typeface="Monotype Sorts" pitchFamily="92" charset="2"/>
              <a:buNone/>
            </a:pPr>
            <a:r>
              <a:rPr lang="en-US" altLang="en-US" dirty="0">
                <a:solidFill>
                  <a:srgbClr val="00B0F0"/>
                </a:solidFill>
              </a:rPr>
              <a:t>https://liveexample.pearsoncmg.com/</a:t>
            </a:r>
            <a:r>
              <a:rPr lang="en-US" altLang="en-US" dirty="0">
                <a:solidFill>
                  <a:srgbClr val="C00000"/>
                </a:solidFill>
              </a:rPr>
              <a:t>checkpoint</a:t>
            </a:r>
            <a:r>
              <a:rPr lang="en-US" altLang="en-US" dirty="0">
                <a:solidFill>
                  <a:srgbClr val="00B0F0"/>
                </a:solidFill>
              </a:rPr>
              <a:t>13ejava/Chapter13.html</a:t>
            </a:r>
          </a:p>
          <a:p>
            <a:pPr marL="0" indent="0">
              <a:buFont typeface="Monotype Sorts" pitchFamily="92" charset="2"/>
              <a:buNone/>
            </a:pPr>
            <a:endParaRPr lang="en-US" altLang="en-US" dirty="0">
              <a:solidFill>
                <a:srgbClr val="00B0F0"/>
              </a:solidFill>
            </a:endParaRPr>
          </a:p>
        </p:txBody>
      </p:sp>
      <p:sp>
        <p:nvSpPr>
          <p:cNvPr id="6" name="Content Placeholder 2">
            <a:extLst>
              <a:ext uri="{FF2B5EF4-FFF2-40B4-BE49-F238E27FC236}">
                <a16:creationId xmlns:a16="http://schemas.microsoft.com/office/drawing/2014/main" id="{B5F1AE1E-D0F3-1C20-C001-B7C488639775}"/>
              </a:ext>
            </a:extLst>
          </p:cNvPr>
          <p:cNvSpPr txBox="1">
            <a:spLocks noChangeArrowheads="1"/>
          </p:cNvSpPr>
          <p:nvPr/>
        </p:nvSpPr>
        <p:spPr>
          <a:xfrm>
            <a:off x="-117876" y="5891448"/>
            <a:ext cx="9261876" cy="452120"/>
          </a:xfrm>
          <a:prstGeom prst="rect">
            <a:avLst/>
          </a:prstGeom>
          <a:noFill/>
          <a:ln>
            <a:noFill/>
          </a:ln>
        </p:spPr>
        <p:txBody>
          <a:bodyPr lIns="91425" tIns="91425" rIns="91425" bIns="91425" anchor="t" anchorCtr="0"/>
          <a:lstStyle>
            <a:defPPr marR="0" lvl="0" algn="l" rtl="0">
              <a:lnSpc>
                <a:spcPct val="100000"/>
              </a:lnSpc>
              <a:spcBef>
                <a:spcPts val="0"/>
              </a:spcBef>
              <a:spcAft>
                <a:spcPts val="0"/>
              </a:spcAft>
            </a:defPPr>
            <a:lvl1pPr marL="256032" marR="0" lvl="0" indent="-154432" algn="l" rtl="0">
              <a:lnSpc>
                <a:spcPct val="100000"/>
              </a:lnSpc>
              <a:spcBef>
                <a:spcPts val="15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lnSpc>
                <a:spcPct val="100000"/>
              </a:lnSpc>
              <a:spcBef>
                <a:spcPts val="600"/>
              </a:spcBef>
              <a:spcAft>
                <a:spcPts val="0"/>
              </a:spcAft>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0" indent="0" algn="ctr">
              <a:buFont typeface="Monotype Sorts" pitchFamily="92" charset="2"/>
              <a:buNone/>
            </a:pPr>
            <a:r>
              <a:rPr lang="en-US" dirty="0">
                <a:solidFill>
                  <a:srgbClr val="00B0F0"/>
                </a:solidFill>
              </a:rPr>
              <a:t>https://liveexample-ppe.pearsoncmg.com/selftest/selftest13e?chapter=</a:t>
            </a:r>
            <a:r>
              <a:rPr lang="en-US" dirty="0">
                <a:solidFill>
                  <a:srgbClr val="FF0000"/>
                </a:solidFill>
              </a:rPr>
              <a:t>13</a:t>
            </a:r>
            <a:r>
              <a:rPr lang="en-US" dirty="0">
                <a:solidFill>
                  <a:srgbClr val="00B0F0"/>
                </a:solidFill>
              </a:rPr>
              <a:t>&amp;username=liang13e</a:t>
            </a:r>
            <a:endParaRPr lang="en-US" altLang="en-US" dirty="0">
              <a:solidFill>
                <a:srgbClr val="00B0F0"/>
              </a:solidFill>
            </a:endParaRPr>
          </a:p>
        </p:txBody>
      </p:sp>
      <p:pic>
        <p:nvPicPr>
          <p:cNvPr id="4" name="Picture 3">
            <a:extLst>
              <a:ext uri="{FF2B5EF4-FFF2-40B4-BE49-F238E27FC236}">
                <a16:creationId xmlns:a16="http://schemas.microsoft.com/office/drawing/2014/main" id="{90B22C9E-9563-C6FF-3E3B-9FBF0EEE1E38}"/>
              </a:ext>
            </a:extLst>
          </p:cNvPr>
          <p:cNvPicPr>
            <a:picLocks noChangeAspect="1"/>
          </p:cNvPicPr>
          <p:nvPr/>
        </p:nvPicPr>
        <p:blipFill>
          <a:blip r:embed="rId2"/>
          <a:stretch>
            <a:fillRect/>
          </a:stretch>
        </p:blipFill>
        <p:spPr>
          <a:xfrm>
            <a:off x="457200" y="1805814"/>
            <a:ext cx="6110091" cy="3305544"/>
          </a:xfrm>
          <a:prstGeom prst="rect">
            <a:avLst/>
          </a:prstGeom>
        </p:spPr>
      </p:pic>
      <p:pic>
        <p:nvPicPr>
          <p:cNvPr id="8" name="Picture 7">
            <a:extLst>
              <a:ext uri="{FF2B5EF4-FFF2-40B4-BE49-F238E27FC236}">
                <a16:creationId xmlns:a16="http://schemas.microsoft.com/office/drawing/2014/main" id="{EFC64D7A-0140-6B0F-497B-0CEA90DDF7B5}"/>
              </a:ext>
            </a:extLst>
          </p:cNvPr>
          <p:cNvPicPr>
            <a:picLocks noChangeAspect="1"/>
          </p:cNvPicPr>
          <p:nvPr/>
        </p:nvPicPr>
        <p:blipFill>
          <a:blip r:embed="rId3"/>
          <a:stretch>
            <a:fillRect/>
          </a:stretch>
        </p:blipFill>
        <p:spPr>
          <a:xfrm>
            <a:off x="4178808" y="2761488"/>
            <a:ext cx="4572000" cy="3009900"/>
          </a:xfrm>
          <a:prstGeom prst="rect">
            <a:avLst/>
          </a:prstGeom>
        </p:spPr>
      </p:pic>
    </p:spTree>
    <p:extLst>
      <p:ext uri="{BB962C8B-B14F-4D97-AF65-F5344CB8AC3E}">
        <p14:creationId xmlns:p14="http://schemas.microsoft.com/office/powerpoint/2010/main" val="1255087344"/>
      </p:ext>
    </p:extLst>
  </p:cSld>
  <p:clrMapOvr>
    <a:masterClrMapping/>
  </p:clrMapOvr>
  <p:transition/>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de507ab-19d9-42c9-b69f-59bb821f2f61">
      <Terms xmlns="http://schemas.microsoft.com/office/infopath/2007/PartnerControls"/>
    </lcf76f155ced4ddcb4097134ff3c332f>
    <TaxCatchAll xmlns="2b22d00c-ba54-415e-ac47-142f0dfcf7e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C5F414-696C-4D81-BDE7-A4022B56884E}">
  <ds:schemaRefs>
    <ds:schemaRef ds:uri="http://schemas.microsoft.com/sharepoint/v3/contenttype/forms"/>
  </ds:schemaRefs>
</ds:datastoreItem>
</file>

<file path=customXml/itemProps2.xml><?xml version="1.0" encoding="utf-8"?>
<ds:datastoreItem xmlns:ds="http://schemas.openxmlformats.org/officeDocument/2006/customXml" ds:itemID="{135C0C13-9DDE-4F1E-838A-1B65B388BCA5}">
  <ds:schemaRefs>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purl.org/dc/terms/"/>
    <ds:schemaRef ds:uri="http://schemas.openxmlformats.org/package/2006/metadata/core-properties"/>
    <ds:schemaRef ds:uri="2b22d00c-ba54-415e-ac47-142f0dfcf7e9"/>
    <ds:schemaRef ds:uri="bde507ab-19d9-42c9-b69f-59bb821f2f61"/>
    <ds:schemaRef ds:uri="http://www.w3.org/XML/1998/namespace"/>
    <ds:schemaRef ds:uri="http://purl.org/dc/dcmitype/"/>
  </ds:schemaRefs>
</ds:datastoreItem>
</file>

<file path=customXml/itemProps3.xml><?xml version="1.0" encoding="utf-8"?>
<ds:datastoreItem xmlns:ds="http://schemas.openxmlformats.org/officeDocument/2006/customXml" ds:itemID="{A5DBB8DF-CD2C-4996-9994-473FC0C4A1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148740</TotalTime>
  <Words>4686</Words>
  <Application>Microsoft Office PowerPoint</Application>
  <PresentationFormat>On-screen Show (4:3)</PresentationFormat>
  <Paragraphs>207</Paragraphs>
  <Slides>43</Slides>
  <Notes>11</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43</vt:i4>
      </vt:variant>
    </vt:vector>
  </HeadingPairs>
  <TitlesOfParts>
    <vt:vector size="58" baseType="lpstr">
      <vt:lpstr>Calibri</vt:lpstr>
      <vt:lpstr>Book Antiqua</vt:lpstr>
      <vt:lpstr>Courier New</vt:lpstr>
      <vt:lpstr>Times New Roman</vt:lpstr>
      <vt:lpstr>PMingLiU</vt:lpstr>
      <vt:lpstr>Courier</vt:lpstr>
      <vt:lpstr>Verdana</vt:lpstr>
      <vt:lpstr>Noto Sans Symbols</vt:lpstr>
      <vt:lpstr>Arial</vt:lpstr>
      <vt:lpstr>Calibri Light</vt:lpstr>
      <vt:lpstr>Wingdings</vt:lpstr>
      <vt:lpstr>Monotype Sorts</vt:lpstr>
      <vt:lpstr>USHE</vt:lpstr>
      <vt:lpstr>USHE_slide options</vt:lpstr>
      <vt:lpstr>1_Office Theme</vt:lpstr>
      <vt:lpstr>Object-Oriented Programming (COSC 102)</vt:lpstr>
      <vt:lpstr>Introduction to Java Programming and Data Structures</vt:lpstr>
      <vt:lpstr>Motivations</vt:lpstr>
      <vt:lpstr>Objectives (1 of 2)</vt:lpstr>
      <vt:lpstr>Objectives (2 of 2)</vt:lpstr>
      <vt:lpstr>Abstract Classes and Abstract Methods</vt:lpstr>
      <vt:lpstr>Abstract Method in Abstract Class</vt:lpstr>
      <vt:lpstr>Object Cannot Be Created From Abstract Class</vt:lpstr>
      <vt:lpstr>Abstract Class Without Abstract Method</vt:lpstr>
      <vt:lpstr>Superclass of Abstract Class May Be Concrete</vt:lpstr>
      <vt:lpstr>Concrete Method Overridden to Be Abstract</vt:lpstr>
      <vt:lpstr>Abstract Class as Type</vt:lpstr>
      <vt:lpstr>Summary of Abstract class rules:</vt:lpstr>
      <vt:lpstr>Case Study: The Abstract Number Class</vt:lpstr>
      <vt:lpstr>Interfaces</vt:lpstr>
      <vt:lpstr>What Is an Interface? Why Is an Interface Useful?</vt:lpstr>
      <vt:lpstr>Define an Interface</vt:lpstr>
      <vt:lpstr>Interface Is a Special Class</vt:lpstr>
      <vt:lpstr>Example (1 of 2)</vt:lpstr>
      <vt:lpstr>Omitting Modifiers in Interfaces</vt:lpstr>
      <vt:lpstr>Example: The Comparable Interface</vt:lpstr>
      <vt:lpstr>The toString, equals, and hashCode Methods</vt:lpstr>
      <vt:lpstr>Integer and BigInteger Classes</vt:lpstr>
      <vt:lpstr>Example (2 of 2) </vt:lpstr>
      <vt:lpstr>Defining Classes to Implement Comparable</vt:lpstr>
      <vt:lpstr>The Cloneable Interfaces</vt:lpstr>
      <vt:lpstr>Note</vt:lpstr>
      <vt:lpstr>Implementing Cloneable Interface</vt:lpstr>
      <vt:lpstr>Shallow versus Deep Copy (1 of 2)</vt:lpstr>
      <vt:lpstr>Shallow versus Deep Copy (2 of 2)</vt:lpstr>
      <vt:lpstr>Interfaces versus Abstract Classes (1 of 2)</vt:lpstr>
      <vt:lpstr>Interfaces versus Abstract Classes (2 of 2)</vt:lpstr>
      <vt:lpstr>Caution: Conflict Interfaces</vt:lpstr>
      <vt:lpstr>Whether to Use an Interface or a Class?</vt:lpstr>
      <vt:lpstr>Designing a Class (1 of 5)</vt:lpstr>
      <vt:lpstr>Designing a Class (2 of 5)</vt:lpstr>
      <vt:lpstr>Designing a Class (3 of 5)</vt:lpstr>
      <vt:lpstr>Designing a Class (4 of 5)</vt:lpstr>
      <vt:lpstr>Designing a Class (5 of 5)</vt:lpstr>
      <vt:lpstr>Using Visibility Modifiers (1 of 2)</vt:lpstr>
      <vt:lpstr>Using Visibility Modifiers (2 of 2)</vt:lpstr>
      <vt:lpstr>Using the Static Modifier</vt:lpstr>
      <vt:lpstr>Practice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Thirteenth Edition, Chapter 13, Abstract Classes and Interfaces</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Khadija Almohsen</cp:lastModifiedBy>
  <cp:revision>941</cp:revision>
  <dcterms:modified xsi:type="dcterms:W3CDTF">2026-04-05T13:50:23Z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